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313" r:id="rId89"/>
    <p:sldId id="314" r:id="rId90"/>
    <p:sldId id="315" r:id="rId91"/>
    <p:sldId id="316" r:id="rId92"/>
    <p:sldId id="317" r:id="rId93"/>
    <p:sldId id="318" r:id="rId94"/>
    <p:sldId id="319" r:id="rId95"/>
    <p:sldId id="320" r:id="rId96"/>
    <p:sldId id="321" r:id="rId97"/>
    <p:sldId id="322" r:id="rId98"/>
    <p:sldId id="323" r:id="rId99"/>
    <p:sldId id="324" r:id="rId100"/>
    <p:sldId id="325" r:id="rId101"/>
    <p:sldId id="326" r:id="rId102"/>
    <p:sldId id="327" r:id="rId103"/>
    <p:sldId id="328" r:id="rId104"/>
    <p:sldId id="329" r:id="rId105"/>
    <p:sldId id="330" r:id="rId106"/>
    <p:sldId id="331" r:id="rId107"/>
    <p:sldId id="332" r:id="rId108"/>
    <p:sldId id="333" r:id="rId109"/>
    <p:sldId id="334" r:id="rId110"/>
    <p:sldId id="335" r:id="rId111"/>
    <p:sldId id="308" r:id="rId59"/>
    <p:sldId id="309" r:id="rId60"/>
    <p:sldId id="310" r:id="rId61"/>
    <p:sldId id="311" r:id="rId62"/>
    <p:sldId id="312" r:id="rId63"/>
  </p:sldIdLst>
  <p:sldSz cy="5143500" cx="9144000"/>
  <p:notesSz cx="6858000" cy="9144000"/>
  <p:embeddedFontLst>
    <p:embeddedFont>
      <p:font typeface="Caveat"/>
      <p:regular r:id="rId64"/>
      <p:bold r:id="rId65"/>
    </p:embeddedFont>
    <p:embeddedFont>
      <p:font typeface="Montserrat"/>
      <p:regular r:id="rId66"/>
      <p:bold r:id="rId67"/>
      <p:italic r:id="rId68"/>
      <p:boldItalic r:id="rId69"/>
    </p:embeddedFont>
    <p:embeddedFont>
      <p:font typeface="Montserrat Black"/>
      <p:bold r:id="rId70"/>
      <p:boldItalic r:id="rId71"/>
    </p:embeddedFont>
    <p:embeddedFont>
      <p:font typeface="Source Serif 4 ExtraLight"/>
      <p:regular r:id="rId72"/>
      <p:bold r:id="rId73"/>
      <p:italic r:id="rId74"/>
      <p:boldItalic r:id="rId75"/>
    </p:embeddedFont>
    <p:embeddedFont>
      <p:font typeface="Montserrat Medium"/>
      <p:regular r:id="rId76"/>
      <p:bold r:id="rId77"/>
      <p:italic r:id="rId78"/>
      <p:boldItalic r:id="rId79"/>
    </p:embeddedFont>
    <p:embeddedFont>
      <p:font typeface="Montserrat Light"/>
      <p:regular r:id="rId80"/>
      <p:bold r:id="rId81"/>
      <p:italic r:id="rId82"/>
      <p:boldItalic r:id="rId83"/>
    </p:embeddedFont>
    <p:embeddedFont>
      <p:font typeface="Source Serif 4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20">
          <p15:clr>
            <a:srgbClr val="A4A3A4"/>
          </p15:clr>
        </p15:guide>
        <p15:guide id="2" pos="2880">
          <p15:clr>
            <a:srgbClr val="A4A3A4"/>
          </p15:clr>
        </p15:guide>
        <p15:guide id="3" pos="766">
          <p15:clr>
            <a:srgbClr val="747775"/>
          </p15:clr>
        </p15:guide>
      </p15:sldGuideLst>
    </p:ext>
    <p:ext uri="GoogleSlidesCustomDataVersion2">
      <go:slidesCustomData xmlns:go="http://customooxmlschemas.google.com/" r:id="rId88" roundtripDataSignature="AMtx7mjm7wt7avm5COnwYi5b/i6ZfPU5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20" orient="horz"/>
        <p:guide pos="2880"/>
        <p:guide pos="76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font" Target="fonts/Caveat-regular.fntdata"/><Relationship Id="rId65" Type="http://schemas.openxmlformats.org/officeDocument/2006/relationships/font" Target="fonts/Caveat-bold.fntdata"/><Relationship Id="rId66" Type="http://schemas.openxmlformats.org/officeDocument/2006/relationships/font" Target="fonts/Montserrat-regular.fntdata"/><Relationship Id="rId67" Type="http://schemas.openxmlformats.org/officeDocument/2006/relationships/font" Target="fonts/Montserrat-bold.fntdata"/><Relationship Id="rId68" Type="http://schemas.openxmlformats.org/officeDocument/2006/relationships/font" Target="fonts/Montserrat-italic.fntdata"/><Relationship Id="rId69" Type="http://schemas.openxmlformats.org/officeDocument/2006/relationships/font" Target="fonts/Montserrat-boldItalic.fntdata"/><Relationship Id="rId70" Type="http://schemas.openxmlformats.org/officeDocument/2006/relationships/font" Target="fonts/MontserratBlack-bold.fntdata"/><Relationship Id="rId71" Type="http://schemas.openxmlformats.org/officeDocument/2006/relationships/font" Target="fonts/MontserratBlack-boldItalic.fntdata"/><Relationship Id="rId72" Type="http://schemas.openxmlformats.org/officeDocument/2006/relationships/font" Target="fonts/SourceSerif4ExtraLight-regular.fntdata"/><Relationship Id="rId73" Type="http://schemas.openxmlformats.org/officeDocument/2006/relationships/font" Target="fonts/SourceSerif4ExtraLight-bold.fntdata"/><Relationship Id="rId74" Type="http://schemas.openxmlformats.org/officeDocument/2006/relationships/font" Target="fonts/SourceSerif4ExtraLight-italic.fntdata"/><Relationship Id="rId75" Type="http://schemas.openxmlformats.org/officeDocument/2006/relationships/font" Target="fonts/SourceSerif4ExtraLight-boldItalic.fntdata"/><Relationship Id="rId76" Type="http://schemas.openxmlformats.org/officeDocument/2006/relationships/font" Target="fonts/MontserratMedium-regular.fntdata"/><Relationship Id="rId77" Type="http://schemas.openxmlformats.org/officeDocument/2006/relationships/font" Target="fonts/MontserratMedium-bold.fntdata"/><Relationship Id="rId78" Type="http://schemas.openxmlformats.org/officeDocument/2006/relationships/font" Target="fonts/MontserratMedium-italic.fntdata"/><Relationship Id="rId79" Type="http://schemas.openxmlformats.org/officeDocument/2006/relationships/font" Target="fonts/MontserratMedium-boldItalic.fntdata"/><Relationship Id="rId80" Type="http://schemas.openxmlformats.org/officeDocument/2006/relationships/font" Target="fonts/MontserratLight-regular.fntdata"/><Relationship Id="rId81" Type="http://schemas.openxmlformats.org/officeDocument/2006/relationships/font" Target="fonts/MontserratLight-bold.fntdata"/><Relationship Id="rId82" Type="http://schemas.openxmlformats.org/officeDocument/2006/relationships/font" Target="fonts/MontserratLight-italic.fntdata"/><Relationship Id="rId83" Type="http://schemas.openxmlformats.org/officeDocument/2006/relationships/font" Target="fonts/MontserratLight-boldItalic.fntdata"/><Relationship Id="rId84" Type="http://schemas.openxmlformats.org/officeDocument/2006/relationships/font" Target="fonts/SourceSerif4-regular.fntdata"/><Relationship Id="rId85" Type="http://schemas.openxmlformats.org/officeDocument/2006/relationships/font" Target="fonts/SourceSerif4-bold.fntdata"/><Relationship Id="rId86" Type="http://schemas.openxmlformats.org/officeDocument/2006/relationships/font" Target="fonts/SourceSerif4-italic.fntdata"/><Relationship Id="rId87" Type="http://schemas.openxmlformats.org/officeDocument/2006/relationships/font" Target="fonts/SourceSerif4-boldItalic.fntdata"/><Relationship Id="rId88" Type="http://customschemas.google.com/relationships/presentationmetadata" Target="metadata"/><Relationship Id="rId89" Type="http://schemas.openxmlformats.org/officeDocument/2006/relationships/slide" Target="slides/slide58.xml"/><Relationship Id="rId90" Type="http://schemas.openxmlformats.org/officeDocument/2006/relationships/slide" Target="slides/slide59.xml"/><Relationship Id="rId91" Type="http://schemas.openxmlformats.org/officeDocument/2006/relationships/slide" Target="slides/slide60.xml"/><Relationship Id="rId92" Type="http://schemas.openxmlformats.org/officeDocument/2006/relationships/slide" Target="slides/slide61.xml"/><Relationship Id="rId93" Type="http://schemas.openxmlformats.org/officeDocument/2006/relationships/slide" Target="slides/slide62.xml"/><Relationship Id="rId94" Type="http://schemas.openxmlformats.org/officeDocument/2006/relationships/slide" Target="slides/slide63.xml"/><Relationship Id="rId95" Type="http://schemas.openxmlformats.org/officeDocument/2006/relationships/slide" Target="slides/slide64.xml"/><Relationship Id="rId96" Type="http://schemas.openxmlformats.org/officeDocument/2006/relationships/slide" Target="slides/slide65.xml"/><Relationship Id="rId97" Type="http://schemas.openxmlformats.org/officeDocument/2006/relationships/slide" Target="slides/slide66.xml"/><Relationship Id="rId98" Type="http://schemas.openxmlformats.org/officeDocument/2006/relationships/slide" Target="slides/slide67.xml"/><Relationship Id="rId99" Type="http://schemas.openxmlformats.org/officeDocument/2006/relationships/slide" Target="slides/slide68.xml"/><Relationship Id="rId100" Type="http://schemas.openxmlformats.org/officeDocument/2006/relationships/slide" Target="slides/slide69.xml"/><Relationship Id="rId101" Type="http://schemas.openxmlformats.org/officeDocument/2006/relationships/slide" Target="slides/slide70.xml"/><Relationship Id="rId102" Type="http://schemas.openxmlformats.org/officeDocument/2006/relationships/slide" Target="slides/slide71.xml"/><Relationship Id="rId103" Type="http://schemas.openxmlformats.org/officeDocument/2006/relationships/slide" Target="slides/slide72.xml"/><Relationship Id="rId104" Type="http://schemas.openxmlformats.org/officeDocument/2006/relationships/slide" Target="slides/slide73.xml"/><Relationship Id="rId105" Type="http://schemas.openxmlformats.org/officeDocument/2006/relationships/slide" Target="slides/slide74.xml"/><Relationship Id="rId106" Type="http://schemas.openxmlformats.org/officeDocument/2006/relationships/slide" Target="slides/slide75.xml"/><Relationship Id="rId107" Type="http://schemas.openxmlformats.org/officeDocument/2006/relationships/slide" Target="slides/slide76.xml"/><Relationship Id="rId108" Type="http://schemas.openxmlformats.org/officeDocument/2006/relationships/slide" Target="slides/slide77.xml"/><Relationship Id="rId109" Type="http://schemas.openxmlformats.org/officeDocument/2006/relationships/slide" Target="slides/slide78.xml"/><Relationship Id="rId110" Type="http://schemas.openxmlformats.org/officeDocument/2006/relationships/slide" Target="slides/slide79.xml"/><Relationship Id="rId111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33ad0625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33ad0625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e33ad0625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33ad06252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e33ad06252_2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e33ad06252_2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33ad06252_2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e33ad06252_2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e33ad06252_2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33ad06252_2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e33ad06252_2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e33ad06252_2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e33ad06252_2_2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e33ad06252_2_2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e33ad06252_2_2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33ad06252_2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33ad06252_2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33ad06252_2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33ad06252_2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33ad06252_2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e33ad06252_2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60 seconds. Land the operational reality, then transition.</a:t>
            </a:r>
            <a:endParaRPr/>
          </a:p>
        </p:txBody>
      </p:sp>
      <p:sp>
        <p:nvSpPr>
          <p:cNvPr id="697" name="Google Shape;6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e33ad06252_2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e33ad06252_2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e33ad06252_2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33ad06252_2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e33ad06252_2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e33ad06252_2_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e33ad06252_2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e33ad06252_2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e33ad06252_2_4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e33ad06252_2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e33ad06252_2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e33ad06252_2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33ad06252_2_5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e33ad06252_2_5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e33ad06252_2_5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gap was always there. What’s changed is that economics, regulation, and architecture trends are now aligned to need a clean answer.</a:t>
            </a:r>
            <a:endParaRPr/>
          </a:p>
        </p:txBody>
      </p:sp>
      <p:sp>
        <p:nvSpPr>
          <p:cNvPr id="887" name="Google Shape;887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Be fair to each. Your contribution isn’t that they fail — it’s that none of them natively supports install/revise/remove/retain on one substrate. Say that line aloud after walking through the three columns.</a:t>
            </a:r>
            <a:endParaRPr/>
          </a:p>
        </p:txBody>
      </p:sp>
      <p:sp>
        <p:nvSpPr>
          <p:cNvPr id="921" name="Google Shape;92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e33ad06252_2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e33ad06252_2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9" name="Google Shape;98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Each will be tested. This slide is the contract with the audience.</a:t>
            </a:r>
            <a:endParaRPr/>
          </a:p>
        </p:txBody>
      </p:sp>
      <p:sp>
        <p:nvSpPr>
          <p:cNvPr id="990" name="Google Shape;990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e33ad06252_2_30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e33ad06252_2_30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e33ad06252_2_30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e33ad06252_2_6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e33ad06252_2_6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e33ad06252_2_6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1" name="Google Shape;108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Credibility anchor. The engine isn’t new in this paper — its application is.</a:t>
            </a:r>
            <a:endParaRPr/>
          </a:p>
        </p:txBody>
      </p:sp>
      <p:sp>
        <p:nvSpPr>
          <p:cNvPr id="1082" name="Google Shape;108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4-choice framing makes scoring unambiguous and the field’s contribution attributable.</a:t>
            </a:r>
            <a:endParaRPr/>
          </a:p>
        </p:txBody>
      </p:sp>
      <p:sp>
        <p:nvSpPr>
          <p:cNvPr id="1112" name="Google Shape;1112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Three properties that fall directly out of parameter independence. Everything else follows.</a:t>
            </a:r>
            <a:endParaRPr/>
          </a:p>
        </p:txBody>
      </p:sp>
      <p:sp>
        <p:nvSpPr>
          <p:cNvPr id="1144" name="Google Shape;1144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4" name="Google Shape;117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Each center is a discrete, addressable object. That’s what makes inspection and removal trivial.</a:t>
            </a:r>
            <a:endParaRPr/>
          </a:p>
        </p:txBody>
      </p:sp>
      <p:sp>
        <p:nvSpPr>
          <p:cNvPr id="1175" name="Google Shape;1175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All of install / revise / remove / restore emerge from this same machinery — no special-case code paths.</a:t>
            </a:r>
            <a:endParaRPr/>
          </a:p>
        </p:txBody>
      </p:sp>
      <p:sp>
        <p:nvSpPr>
          <p:cNvPr id="1205" name="Google Shape;1205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e33ad06252_2_6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3e33ad06252_2_6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g3e33ad06252_2_6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e33ad06252_2_6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e33ad06252_2_6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g3e33ad06252_2_6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Visual: small org-chart snippet. The world is the test.</a:t>
            </a:r>
            <a:endParaRPr/>
          </a:p>
        </p:txBody>
      </p:sp>
      <p:sp>
        <p:nvSpPr>
          <p:cNvPr id="1308" name="Google Shape;1308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Phases designed to exercise the lifecycle, not just sample from it.</a:t>
            </a:r>
            <a:endParaRPr/>
          </a:p>
        </p:txBody>
      </p:sp>
      <p:sp>
        <p:nvSpPr>
          <p:cNvPr id="1338" name="Google Shape;1338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2" name="Google Shape;1382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Concrete grounding. Walk through Sara to make the substrate-level claim tangible.</a:t>
            </a:r>
            <a:endParaRPr/>
          </a:p>
        </p:txBody>
      </p:sp>
      <p:sp>
        <p:nvSpPr>
          <p:cNvPr id="1383" name="Google Shape;1383;p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σ is not tuned per task — it’s measured from the proposition-space geometry.</a:t>
            </a:r>
            <a:endParaRPr/>
          </a:p>
        </p:txBody>
      </p:sp>
      <p:sp>
        <p:nvSpPr>
          <p:cNvPr id="1429" name="Google Shape;1429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6" name="Google Shape;1486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Pre-empts a common reviewer question. Disclose both readout paths.</a:t>
            </a:r>
            <a:endParaRPr/>
          </a:p>
        </p:txBody>
      </p:sp>
      <p:sp>
        <p:nvSpPr>
          <p:cNvPr id="1487" name="Google Shape;1487;p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8" name="Google Shape;149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Any single metric is achievable by an inferior architecture. The combination tests the substrate claim.</a:t>
            </a:r>
            <a:endParaRPr/>
          </a:p>
        </p:txBody>
      </p:sp>
      <p:sp>
        <p:nvSpPr>
          <p:cNvPr id="1499" name="Google Shape;1499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e33ad06252_2_119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e33ad06252_2_119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g3e33ad06252_2_119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e33ad06252_2_119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e33ad06252_2_119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g3e33ad06252_2_119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These define the work’s scope, not its weakness.</a:t>
            </a:r>
            <a:endParaRPr/>
          </a:p>
        </p:txBody>
      </p:sp>
      <p:sp>
        <p:nvSpPr>
          <p:cNvPr id="2098" name="Google Shape;2098;p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last bullet positions the work as substrate-level, not “another method.”</a:t>
            </a:r>
            <a:endParaRPr/>
          </a:p>
        </p:txBody>
      </p:sp>
      <p:sp>
        <p:nvSpPr>
          <p:cNvPr id="2127" name="Google Shape;2127;p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5" name="Google Shape;2155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Where the program goes next. Tie to the foundational paper’s open arc.</a:t>
            </a:r>
            <a:endParaRPr/>
          </a:p>
        </p:txBody>
      </p:sp>
      <p:sp>
        <p:nvSpPr>
          <p:cNvPr id="2156" name="Google Shape;2156;p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4" name="Google Shape;2184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whole talk in one slide. Re-read the central claim if there’s time.</a:t>
            </a:r>
            <a:endParaRPr/>
          </a:p>
        </p:txBody>
      </p:sp>
      <p:sp>
        <p:nvSpPr>
          <p:cNvPr id="2185" name="Google Shape;2185;p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3" name="Google Shape;2213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Q&amp;A. 20–30 minutes.</a:t>
            </a:r>
            <a:endParaRPr/>
          </a:p>
        </p:txBody>
      </p:sp>
      <p:sp>
        <p:nvSpPr>
          <p:cNvPr id="2214" name="Google Shape;2214;p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g3e33ad06252_2_1482"/>
          <p:cNvCxnSpPr/>
          <p:nvPr/>
        </p:nvCxnSpPr>
        <p:spPr>
          <a:xfrm>
            <a:off x="0" y="3618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g3e33ad06252_2_1482"/>
          <p:cNvSpPr/>
          <p:nvPr>
            <p:ph idx="2" type="pic"/>
          </p:nvPr>
        </p:nvSpPr>
        <p:spPr>
          <a:xfrm rot="-5400000">
            <a:off x="4689300" y="690800"/>
            <a:ext cx="3062700" cy="58551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1" name="Google Shape;91;g3e33ad06252_2_1482"/>
          <p:cNvSpPr txBox="1"/>
          <p:nvPr>
            <p:ph type="title"/>
          </p:nvPr>
        </p:nvSpPr>
        <p:spPr>
          <a:xfrm>
            <a:off x="256050" y="331317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" name="Google Shape;92;g3e33ad06252_2_1482"/>
          <p:cNvSpPr txBox="1"/>
          <p:nvPr>
            <p:ph idx="3" type="title"/>
          </p:nvPr>
        </p:nvSpPr>
        <p:spPr>
          <a:xfrm>
            <a:off x="256050" y="3800525"/>
            <a:ext cx="23526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3" name="Google Shape;93;g3e33ad06252_2_1482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g3e33ad06252_2_1482"/>
          <p:cNvSpPr txBox="1"/>
          <p:nvPr>
            <p:ph idx="4" type="title"/>
          </p:nvPr>
        </p:nvSpPr>
        <p:spPr>
          <a:xfrm>
            <a:off x="256050" y="256025"/>
            <a:ext cx="8631900" cy="11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">
  <p:cSld name="BLANK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3ad06252_2_1489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97" name="Google Shape;97;g3e33ad06252_2_148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8" name="Google Shape;98;g3e33ad06252_2_1489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33ad06252_2_1493"/>
          <p:cNvSpPr/>
          <p:nvPr/>
        </p:nvSpPr>
        <p:spPr>
          <a:xfrm>
            <a:off x="4572000" y="-6600"/>
            <a:ext cx="4572000" cy="515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g3e33ad06252_2_1493"/>
          <p:cNvSpPr txBox="1"/>
          <p:nvPr>
            <p:ph type="title"/>
          </p:nvPr>
        </p:nvSpPr>
        <p:spPr>
          <a:xfrm>
            <a:off x="256025" y="213150"/>
            <a:ext cx="42612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2" name="Google Shape;102;g3e33ad06252_2_1493"/>
          <p:cNvSpPr txBox="1"/>
          <p:nvPr>
            <p:ph idx="1" type="body"/>
          </p:nvPr>
        </p:nvSpPr>
        <p:spPr>
          <a:xfrm>
            <a:off x="256025" y="1547275"/>
            <a:ext cx="36396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03" name="Google Shape;103;g3e33ad06252_2_1493"/>
          <p:cNvSpPr txBox="1"/>
          <p:nvPr>
            <p:ph idx="2" type="title"/>
          </p:nvPr>
        </p:nvSpPr>
        <p:spPr>
          <a:xfrm>
            <a:off x="6067500" y="4448600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4" name="Google Shape;104;g3e33ad06252_2_1493"/>
          <p:cNvSpPr txBox="1"/>
          <p:nvPr>
            <p:ph idx="3" type="title"/>
          </p:nvPr>
        </p:nvSpPr>
        <p:spPr>
          <a:xfrm>
            <a:off x="6067500" y="4621154"/>
            <a:ext cx="1581000" cy="1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5" name="Google Shape;105;g3e33ad06252_2_1493"/>
          <p:cNvSpPr txBox="1"/>
          <p:nvPr>
            <p:ph idx="4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g3e33ad06252_2_1493"/>
          <p:cNvSpPr txBox="1"/>
          <p:nvPr>
            <p:ph idx="5" type="body"/>
          </p:nvPr>
        </p:nvSpPr>
        <p:spPr>
          <a:xfrm>
            <a:off x="5190600" y="1902000"/>
            <a:ext cx="3639600" cy="16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1pPr>
            <a:lvl2pPr indent="-3429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5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3ad06252_2_150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9" name="Google Shape;109;g3e33ad06252_2_150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e33ad06252_2_150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g3e33ad06252_2_150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e33ad06252_2_150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g3e33ad06252_2_1501"/>
          <p:cNvSpPr txBox="1"/>
          <p:nvPr>
            <p:ph idx="1" type="body"/>
          </p:nvPr>
        </p:nvSpPr>
        <p:spPr>
          <a:xfrm>
            <a:off x="2559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4" name="Google Shape;114;g3e33ad06252_2_1501"/>
          <p:cNvSpPr txBox="1"/>
          <p:nvPr>
            <p:ph idx="2" type="title"/>
          </p:nvPr>
        </p:nvSpPr>
        <p:spPr>
          <a:xfrm>
            <a:off x="2559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g3e33ad06252_2_1501"/>
          <p:cNvSpPr txBox="1"/>
          <p:nvPr>
            <p:ph idx="3" type="body"/>
          </p:nvPr>
        </p:nvSpPr>
        <p:spPr>
          <a:xfrm>
            <a:off x="250612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6" name="Google Shape;116;g3e33ad06252_2_1501"/>
          <p:cNvSpPr txBox="1"/>
          <p:nvPr>
            <p:ph idx="4" type="title"/>
          </p:nvPr>
        </p:nvSpPr>
        <p:spPr>
          <a:xfrm>
            <a:off x="250612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7" name="Google Shape;117;g3e33ad06252_2_1501"/>
          <p:cNvSpPr txBox="1"/>
          <p:nvPr>
            <p:ph idx="5" type="body"/>
          </p:nvPr>
        </p:nvSpPr>
        <p:spPr>
          <a:xfrm>
            <a:off x="4756275" y="183635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18" name="Google Shape;118;g3e33ad06252_2_1501"/>
          <p:cNvSpPr txBox="1"/>
          <p:nvPr>
            <p:ph idx="6" type="title"/>
          </p:nvPr>
        </p:nvSpPr>
        <p:spPr>
          <a:xfrm>
            <a:off x="4756275" y="154727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1">
  <p:cSld name="BLANK_1_1_1_1_1_1_1_1_1_1_1_4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3ad06252_2_1513"/>
          <p:cNvSpPr/>
          <p:nvPr/>
        </p:nvSpPr>
        <p:spPr>
          <a:xfrm>
            <a:off x="-75" y="10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e33ad06252_2_1513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2" name="Google Shape;122;g3e33ad06252_2_1513"/>
          <p:cNvSpPr txBox="1"/>
          <p:nvPr>
            <p:ph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g3e33ad06252_2_1513"/>
          <p:cNvSpPr txBox="1"/>
          <p:nvPr>
            <p:ph idx="2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4" name="Google Shape;124;g3e33ad06252_2_1513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2">
  <p:cSld name="BLANK_1_1_1_1_1_1_1_1_1_1_1_4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3ad06252_2_1519"/>
          <p:cNvSpPr/>
          <p:nvPr/>
        </p:nvSpPr>
        <p:spPr>
          <a:xfrm flipH="1">
            <a:off x="-25" y="0"/>
            <a:ext cx="6565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e33ad06252_2_1519"/>
          <p:cNvSpPr txBox="1"/>
          <p:nvPr>
            <p:ph type="title"/>
          </p:nvPr>
        </p:nvSpPr>
        <p:spPr>
          <a:xfrm>
            <a:off x="256025" y="213150"/>
            <a:ext cx="60540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28" name="Google Shape;128;g3e33ad06252_2_1519"/>
          <p:cNvSpPr txBox="1"/>
          <p:nvPr>
            <p:ph idx="1" type="body"/>
          </p:nvPr>
        </p:nvSpPr>
        <p:spPr>
          <a:xfrm>
            <a:off x="6821675" y="1272000"/>
            <a:ext cx="2066400" cy="22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29" name="Google Shape;129;g3e33ad06252_2_1519"/>
          <p:cNvSpPr txBox="1"/>
          <p:nvPr>
            <p:ph idx="2" type="title"/>
          </p:nvPr>
        </p:nvSpPr>
        <p:spPr>
          <a:xfrm>
            <a:off x="4517150" y="4764350"/>
            <a:ext cx="17928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Montserrat"/>
              <a:buNone/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0" name="Google Shape;130;g3e33ad06252_2_1519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ub-section 3">
  <p:cSld name="BLANK_1_1_1_1_1_1_1_1_1_1_1_4_1_1_1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33ad06252_2_1525"/>
          <p:cNvSpPr txBox="1"/>
          <p:nvPr>
            <p:ph type="title"/>
          </p:nvPr>
        </p:nvSpPr>
        <p:spPr>
          <a:xfrm>
            <a:off x="256025" y="213150"/>
            <a:ext cx="55836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33" name="Google Shape;133;g3e33ad06252_2_1525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e33ad06252_2_1525"/>
          <p:cNvSpPr txBox="1"/>
          <p:nvPr>
            <p:ph idx="1" type="body"/>
          </p:nvPr>
        </p:nvSpPr>
        <p:spPr>
          <a:xfrm>
            <a:off x="2559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5" name="Google Shape;135;g3e33ad06252_2_1525"/>
          <p:cNvSpPr txBox="1"/>
          <p:nvPr>
            <p:ph idx="2" type="body"/>
          </p:nvPr>
        </p:nvSpPr>
        <p:spPr>
          <a:xfrm>
            <a:off x="25061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6" name="Google Shape;136;g3e33ad06252_2_1525"/>
          <p:cNvSpPr txBox="1"/>
          <p:nvPr>
            <p:ph idx="3" type="body"/>
          </p:nvPr>
        </p:nvSpPr>
        <p:spPr>
          <a:xfrm>
            <a:off x="4756375" y="187672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i="1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i="1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i="1"/>
            </a:lvl9pPr>
          </a:lstStyle>
          <a:p/>
        </p:txBody>
      </p:sp>
      <p:sp>
        <p:nvSpPr>
          <p:cNvPr id="137" name="Google Shape;137;g3e33ad06252_2_1525"/>
          <p:cNvSpPr txBox="1"/>
          <p:nvPr>
            <p:ph idx="4" type="subTitle"/>
          </p:nvPr>
        </p:nvSpPr>
        <p:spPr>
          <a:xfrm>
            <a:off x="255975" y="1548360"/>
            <a:ext cx="4131900" cy="2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cxnSp>
        <p:nvCxnSpPr>
          <p:cNvPr id="138" name="Google Shape;138;g3e33ad06252_2_1525"/>
          <p:cNvCxnSpPr>
            <a:stCxn id="139" idx="2"/>
            <a:endCxn id="140" idx="6"/>
          </p:cNvCxnSpPr>
          <p:nvPr/>
        </p:nvCxnSpPr>
        <p:spPr>
          <a:xfrm>
            <a:off x="7312308" y="609469"/>
            <a:ext cx="1831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g3e33ad06252_2_1525"/>
          <p:cNvSpPr/>
          <p:nvPr/>
        </p:nvSpPr>
        <p:spPr>
          <a:xfrm>
            <a:off x="7925052" y="0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e33ad06252_2_1525"/>
          <p:cNvSpPr/>
          <p:nvPr/>
        </p:nvSpPr>
        <p:spPr>
          <a:xfrm>
            <a:off x="7503454" y="189104"/>
            <a:ext cx="840900" cy="8409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e33ad06252_2_1525"/>
          <p:cNvSpPr/>
          <p:nvPr/>
        </p:nvSpPr>
        <p:spPr>
          <a:xfrm>
            <a:off x="7312308" y="403669"/>
            <a:ext cx="411600" cy="4116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BLANK_1_1_1_1_1_1_1_1_1_1_1_3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3ad06252_2_1536"/>
          <p:cNvSpPr txBox="1"/>
          <p:nvPr>
            <p:ph idx="1" type="body"/>
          </p:nvPr>
        </p:nvSpPr>
        <p:spPr>
          <a:xfrm>
            <a:off x="2559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4" name="Google Shape;144;g3e33ad06252_2_1536"/>
          <p:cNvSpPr txBox="1"/>
          <p:nvPr>
            <p:ph idx="2" type="subTitle"/>
          </p:nvPr>
        </p:nvSpPr>
        <p:spPr>
          <a:xfrm>
            <a:off x="2559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45" name="Google Shape;145;g3e33ad06252_2_1536"/>
          <p:cNvSpPr/>
          <p:nvPr/>
        </p:nvSpPr>
        <p:spPr>
          <a:xfrm flipH="1" rot="10800000">
            <a:off x="6692400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g3e33ad06252_2_153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7" name="Google Shape;147;g3e33ad06252_2_1536"/>
          <p:cNvSpPr txBox="1"/>
          <p:nvPr>
            <p:ph idx="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g3e33ad06252_2_1536"/>
          <p:cNvSpPr txBox="1"/>
          <p:nvPr>
            <p:ph idx="4" type="body"/>
          </p:nvPr>
        </p:nvSpPr>
        <p:spPr>
          <a:xfrm>
            <a:off x="255862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49" name="Google Shape;149;g3e33ad06252_2_1536"/>
          <p:cNvSpPr txBox="1"/>
          <p:nvPr>
            <p:ph idx="5" type="subTitle"/>
          </p:nvPr>
        </p:nvSpPr>
        <p:spPr>
          <a:xfrm>
            <a:off x="25586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0" name="Google Shape;150;g3e33ad06252_2_1536"/>
          <p:cNvSpPr txBox="1"/>
          <p:nvPr>
            <p:ph idx="6" type="body"/>
          </p:nvPr>
        </p:nvSpPr>
        <p:spPr>
          <a:xfrm>
            <a:off x="4808775" y="2020075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1" name="Google Shape;151;g3e33ad06252_2_1536"/>
          <p:cNvSpPr txBox="1"/>
          <p:nvPr>
            <p:ph idx="7" type="subTitle"/>
          </p:nvPr>
        </p:nvSpPr>
        <p:spPr>
          <a:xfrm>
            <a:off x="480877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2" name="Google Shape;152;g3e33ad06252_2_1536"/>
          <p:cNvSpPr txBox="1"/>
          <p:nvPr>
            <p:ph idx="8" type="body"/>
          </p:nvPr>
        </p:nvSpPr>
        <p:spPr>
          <a:xfrm>
            <a:off x="6821675" y="2023213"/>
            <a:ext cx="1881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53" name="Google Shape;153;g3e33ad06252_2_1536"/>
          <p:cNvSpPr txBox="1"/>
          <p:nvPr>
            <p:ph idx="9" type="subTitle"/>
          </p:nvPr>
        </p:nvSpPr>
        <p:spPr>
          <a:xfrm>
            <a:off x="7058925" y="1718725"/>
            <a:ext cx="1881600" cy="25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4" name="Google Shape;154;g3e33ad06252_2_1536"/>
          <p:cNvSpPr txBox="1"/>
          <p:nvPr>
            <p:ph idx="13" type="subTitle"/>
          </p:nvPr>
        </p:nvSpPr>
        <p:spPr>
          <a:xfrm>
            <a:off x="2559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5" name="Google Shape;155;g3e33ad06252_2_1536"/>
          <p:cNvSpPr txBox="1"/>
          <p:nvPr>
            <p:ph idx="14" type="subTitle"/>
          </p:nvPr>
        </p:nvSpPr>
        <p:spPr>
          <a:xfrm>
            <a:off x="25586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6" name="Google Shape;156;g3e33ad06252_2_1536"/>
          <p:cNvSpPr txBox="1"/>
          <p:nvPr>
            <p:ph idx="15" type="subTitle"/>
          </p:nvPr>
        </p:nvSpPr>
        <p:spPr>
          <a:xfrm>
            <a:off x="480877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57" name="Google Shape;157;g3e33ad06252_2_1536"/>
          <p:cNvSpPr txBox="1"/>
          <p:nvPr>
            <p:ph idx="16" type="subTitle"/>
          </p:nvPr>
        </p:nvSpPr>
        <p:spPr>
          <a:xfrm>
            <a:off x="7058925" y="1132938"/>
            <a:ext cx="1881600" cy="14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800"/>
              <a:buNone/>
              <a:defRPr i="1" sz="1000"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2 content display">
  <p:cSld name="BLANK_1_1_1_1_1_1_1_1_1_1_1_2_1_4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33ad06252_2_1552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e33ad06252_2_1552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e33ad06252_2_1552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62" name="Google Shape;162;g3e33ad06252_2_1552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e33ad06252_2_1552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e33ad06252_2_1552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e33ad06252_2_1552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6" name="Google Shape;166;g3e33ad06252_2_1552"/>
          <p:cNvCxnSpPr>
            <a:stCxn id="165" idx="7"/>
            <a:endCxn id="162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g3e33ad06252_2_1552"/>
          <p:cNvCxnSpPr>
            <a:stCxn id="165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g3e33ad06252_2_1552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g3e33ad06252_2_1552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0" name="Google Shape;170;g3e33ad06252_2_1552"/>
          <p:cNvSpPr txBox="1"/>
          <p:nvPr>
            <p:ph idx="2" type="body"/>
          </p:nvPr>
        </p:nvSpPr>
        <p:spPr>
          <a:xfrm>
            <a:off x="1994150" y="32310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1" name="Google Shape;171;g3e33ad06252_2_1552"/>
          <p:cNvSpPr/>
          <p:nvPr>
            <p:ph idx="3" type="pic"/>
          </p:nvPr>
        </p:nvSpPr>
        <p:spPr>
          <a:xfrm>
            <a:off x="255950" y="29831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g3e33ad06252_2_1552"/>
          <p:cNvSpPr txBox="1"/>
          <p:nvPr>
            <p:ph idx="4" type="subTitle"/>
          </p:nvPr>
        </p:nvSpPr>
        <p:spPr>
          <a:xfrm>
            <a:off x="1994150" y="29940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3" name="Google Shape;173;g3e33ad06252_2_1552"/>
          <p:cNvSpPr txBox="1"/>
          <p:nvPr>
            <p:ph idx="5" type="body"/>
          </p:nvPr>
        </p:nvSpPr>
        <p:spPr>
          <a:xfrm>
            <a:off x="6429400" y="3231850"/>
            <a:ext cx="24585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74" name="Google Shape;174;g3e33ad06252_2_1552"/>
          <p:cNvSpPr/>
          <p:nvPr>
            <p:ph idx="6" type="pic"/>
          </p:nvPr>
        </p:nvSpPr>
        <p:spPr>
          <a:xfrm>
            <a:off x="4691200" y="2983950"/>
            <a:ext cx="15882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g3e33ad06252_2_1552"/>
          <p:cNvSpPr txBox="1"/>
          <p:nvPr>
            <p:ph idx="7" type="subTitle"/>
          </p:nvPr>
        </p:nvSpPr>
        <p:spPr>
          <a:xfrm>
            <a:off x="6429400" y="2994850"/>
            <a:ext cx="24585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6" name="Google Shape;176;g3e33ad06252_2_1552"/>
          <p:cNvSpPr txBox="1"/>
          <p:nvPr>
            <p:ph idx="8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3">
  <p:cSld name="BLANK_1_1_1_1_1_1_1_1_1_1_1_2_1_3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33ad06252_2_157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e33ad06252_2_157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3e33ad06252_2_157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1" name="Google Shape;181;g3e33ad06252_2_157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e33ad06252_2_157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e33ad06252_2_157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e33ad06252_2_157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e33ad06252_2_157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86" name="Google Shape;186;g3e33ad06252_2_1571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">
  <p:cSld name="BLANK_1_1_1_1_1_1_1_1_1_1_1_2_1_3_1">
    <p:bg>
      <p:bgPr>
        <a:solidFill>
          <a:schemeClr val="dk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3ad06252_2_1581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e33ad06252_2_1581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g3e33ad06252_2_1581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1" name="Google Shape;191;g3e33ad06252_2_1581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e33ad06252_2_1581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e33ad06252_2_1581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e33ad06252_2_1581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e33ad06252_2_1581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6" name="Google Shape;196;g3e33ad06252_2_1581"/>
          <p:cNvSpPr txBox="1"/>
          <p:nvPr>
            <p:ph idx="2" type="body"/>
          </p:nvPr>
        </p:nvSpPr>
        <p:spPr>
          <a:xfrm>
            <a:off x="4441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7" name="Google Shape;197;g3e33ad06252_2_1581"/>
          <p:cNvSpPr txBox="1"/>
          <p:nvPr>
            <p:ph idx="3" type="body"/>
          </p:nvPr>
        </p:nvSpPr>
        <p:spPr>
          <a:xfrm>
            <a:off x="3370950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8" name="Google Shape;198;g3e33ad06252_2_1581"/>
          <p:cNvSpPr txBox="1"/>
          <p:nvPr>
            <p:ph idx="4" type="body"/>
          </p:nvPr>
        </p:nvSpPr>
        <p:spPr>
          <a:xfrm>
            <a:off x="6297725" y="4243800"/>
            <a:ext cx="24021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199" name="Google Shape;199;g3e33ad06252_2_1581"/>
          <p:cNvSpPr txBox="1"/>
          <p:nvPr>
            <p:ph idx="5" type="title"/>
          </p:nvPr>
        </p:nvSpPr>
        <p:spPr>
          <a:xfrm>
            <a:off x="44412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g3e33ad06252_2_1581"/>
          <p:cNvSpPr txBox="1"/>
          <p:nvPr>
            <p:ph idx="6" type="title"/>
          </p:nvPr>
        </p:nvSpPr>
        <p:spPr>
          <a:xfrm>
            <a:off x="3370950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1" name="Google Shape;201;g3e33ad06252_2_1581"/>
          <p:cNvSpPr txBox="1"/>
          <p:nvPr>
            <p:ph idx="7" type="title"/>
          </p:nvPr>
        </p:nvSpPr>
        <p:spPr>
          <a:xfrm>
            <a:off x="6297775" y="3094675"/>
            <a:ext cx="2402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6">
  <p:cSld name="BLANK_1_1_1_1_1_1_1_1_1_1_1_2_1_2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3ad06252_2_159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4" name="Google Shape;204;g3e33ad06252_2_159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05" name="Google Shape;205;g3e33ad06252_2_1596"/>
          <p:cNvSpPr txBox="1"/>
          <p:nvPr>
            <p:ph idx="2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g3e33ad06252_2_1596"/>
          <p:cNvSpPr txBox="1"/>
          <p:nvPr>
            <p:ph idx="3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07" name="Google Shape;207;g3e33ad06252_2_1596"/>
          <p:cNvSpPr txBox="1"/>
          <p:nvPr>
            <p:ph idx="4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g3e33ad06252_2_1596"/>
          <p:cNvSpPr txBox="1"/>
          <p:nvPr>
            <p:ph idx="5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09" name="Google Shape;209;g3e33ad06252_2_1596"/>
          <p:cNvSpPr txBox="1"/>
          <p:nvPr>
            <p:ph idx="6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g3e33ad06252_2_1596"/>
          <p:cNvSpPr txBox="1"/>
          <p:nvPr>
            <p:ph idx="7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11" name="Google Shape;211;g3e33ad06252_2_1596"/>
          <p:cNvSpPr txBox="1"/>
          <p:nvPr>
            <p:ph idx="8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7">
  <p:cSld name="BLANK_1_1_1_1_1_1_1_1_1_1_1_2_1_2_2_1">
    <p:bg>
      <p:bgPr>
        <a:solidFill>
          <a:schemeClr val="dk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33ad06252_2_1606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e33ad06252_2_1606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5" name="Google Shape;215;g3e33ad06252_2_1606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16" name="Google Shape;216;g3e33ad06252_2_1606"/>
          <p:cNvSpPr/>
          <p:nvPr/>
        </p:nvSpPr>
        <p:spPr>
          <a:xfrm flipH="1">
            <a:off x="7595967" y="28005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e33ad06252_2_1606"/>
          <p:cNvSpPr/>
          <p:nvPr/>
        </p:nvSpPr>
        <p:spPr>
          <a:xfrm flipH="1">
            <a:off x="7759616" y="443699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g3e33ad06252_2_1606"/>
          <p:cNvSpPr/>
          <p:nvPr/>
        </p:nvSpPr>
        <p:spPr>
          <a:xfrm flipH="1">
            <a:off x="7925104" y="4"/>
            <a:ext cx="1218900" cy="12189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e33ad06252_2_1606"/>
          <p:cNvSpPr/>
          <p:nvPr/>
        </p:nvSpPr>
        <p:spPr>
          <a:xfrm flipH="1">
            <a:off x="7878268" y="5623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g3e33ad06252_2_1606"/>
          <p:cNvSpPr txBox="1"/>
          <p:nvPr>
            <p:ph idx="2" type="title"/>
          </p:nvPr>
        </p:nvSpPr>
        <p:spPr>
          <a:xfrm>
            <a:off x="3622350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1" name="Google Shape;221;g3e33ad06252_2_1606"/>
          <p:cNvSpPr txBox="1"/>
          <p:nvPr>
            <p:ph idx="3" type="subTitle"/>
          </p:nvPr>
        </p:nvSpPr>
        <p:spPr>
          <a:xfrm>
            <a:off x="3729900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g3e33ad06252_2_1606"/>
          <p:cNvSpPr txBox="1"/>
          <p:nvPr>
            <p:ph idx="4" type="title"/>
          </p:nvPr>
        </p:nvSpPr>
        <p:spPr>
          <a:xfrm>
            <a:off x="574363" y="34102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3" name="Google Shape;223;g3e33ad06252_2_1606"/>
          <p:cNvSpPr txBox="1"/>
          <p:nvPr>
            <p:ph idx="5" type="subTitle"/>
          </p:nvPr>
        </p:nvSpPr>
        <p:spPr>
          <a:xfrm>
            <a:off x="681913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g3e33ad06252_2_1606"/>
          <p:cNvSpPr txBox="1"/>
          <p:nvPr>
            <p:ph idx="6" type="title"/>
          </p:nvPr>
        </p:nvSpPr>
        <p:spPr>
          <a:xfrm>
            <a:off x="6670325" y="3410283"/>
            <a:ext cx="1899300" cy="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5600"/>
            </a:lvl9pPr>
          </a:lstStyle>
          <a:p/>
        </p:txBody>
      </p:sp>
      <p:sp>
        <p:nvSpPr>
          <p:cNvPr id="225" name="Google Shape;225;g3e33ad06252_2_1606"/>
          <p:cNvSpPr txBox="1"/>
          <p:nvPr>
            <p:ph idx="7" type="subTitle"/>
          </p:nvPr>
        </p:nvSpPr>
        <p:spPr>
          <a:xfrm>
            <a:off x="6777875" y="4217102"/>
            <a:ext cx="1684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8">
  <p:cSld name="BLANK_1_1_1_1_1_1_1_1_1_1_1_2_1_5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3ad06252_2_162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33ad06252_2_162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g3e33ad06252_2_162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0" name="Google Shape;230;g3e33ad06252_2_162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e33ad06252_2_162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g3e33ad06252_2_162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g3e33ad06252_2_162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4" name="Google Shape;234;g3e33ad06252_2_1620"/>
          <p:cNvCxnSpPr>
            <a:stCxn id="233" idx="7"/>
            <a:endCxn id="230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g3e33ad06252_2_1620"/>
          <p:cNvCxnSpPr>
            <a:stCxn id="233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g3e33ad06252_2_162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g3e33ad06252_2_162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38" name="Google Shape;238;g3e33ad06252_2_1620"/>
          <p:cNvSpPr txBox="1"/>
          <p:nvPr>
            <p:ph idx="2" type="title"/>
          </p:nvPr>
        </p:nvSpPr>
        <p:spPr>
          <a:xfrm>
            <a:off x="112425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9" name="Google Shape;239;g3e33ad06252_2_1620"/>
          <p:cNvSpPr txBox="1"/>
          <p:nvPr>
            <p:ph idx="3" type="subTitle"/>
          </p:nvPr>
        </p:nvSpPr>
        <p:spPr>
          <a:xfrm>
            <a:off x="459075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g3e33ad06252_2_1620"/>
          <p:cNvSpPr txBox="1"/>
          <p:nvPr>
            <p:ph idx="4" type="title"/>
          </p:nvPr>
        </p:nvSpPr>
        <p:spPr>
          <a:xfrm>
            <a:off x="4718600" y="3522983"/>
            <a:ext cx="18993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1" name="Google Shape;241;g3e33ad06252_2_1620"/>
          <p:cNvSpPr txBox="1"/>
          <p:nvPr>
            <p:ph idx="5" type="subTitle"/>
          </p:nvPr>
        </p:nvSpPr>
        <p:spPr>
          <a:xfrm>
            <a:off x="5065250" y="4178725"/>
            <a:ext cx="12060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g3e33ad06252_2_1620"/>
          <p:cNvSpPr txBox="1"/>
          <p:nvPr>
            <p:ph idx="6" type="body"/>
          </p:nvPr>
        </p:nvSpPr>
        <p:spPr>
          <a:xfrm>
            <a:off x="6880375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3" name="Google Shape;243;g3e33ad06252_2_1620"/>
          <p:cNvSpPr txBox="1"/>
          <p:nvPr>
            <p:ph idx="7" type="subTitle"/>
          </p:nvPr>
        </p:nvSpPr>
        <p:spPr>
          <a:xfrm>
            <a:off x="6880375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g3e33ad06252_2_1620"/>
          <p:cNvSpPr txBox="1"/>
          <p:nvPr>
            <p:ph idx="8" type="subTitle"/>
          </p:nvPr>
        </p:nvSpPr>
        <p:spPr>
          <a:xfrm>
            <a:off x="2274000" y="2984750"/>
            <a:ext cx="20307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g3e33ad06252_2_1620"/>
          <p:cNvSpPr txBox="1"/>
          <p:nvPr>
            <p:ph idx="9" type="body"/>
          </p:nvPr>
        </p:nvSpPr>
        <p:spPr>
          <a:xfrm>
            <a:off x="2274000" y="3231050"/>
            <a:ext cx="20307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9">
  <p:cSld name="BLANK_1_1_1_1_1_1_1_1_1_1_1_2_1_6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3ad06252_2_1640"/>
          <p:cNvSpPr/>
          <p:nvPr/>
        </p:nvSpPr>
        <p:spPr>
          <a:xfrm>
            <a:off x="0" y="1218975"/>
            <a:ext cx="9144000" cy="39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g3e33ad06252_2_1640"/>
          <p:cNvSpPr txBox="1"/>
          <p:nvPr>
            <p:ph idx="1" type="body"/>
          </p:nvPr>
        </p:nvSpPr>
        <p:spPr>
          <a:xfrm>
            <a:off x="422609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49" name="Google Shape;249;g3e33ad06252_2_1640"/>
          <p:cNvSpPr txBox="1"/>
          <p:nvPr>
            <p:ph idx="2" type="body"/>
          </p:nvPr>
        </p:nvSpPr>
        <p:spPr>
          <a:xfrm>
            <a:off x="2614838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0" name="Google Shape;250;g3e33ad06252_2_1640"/>
          <p:cNvSpPr txBox="1"/>
          <p:nvPr>
            <p:ph idx="3" type="body"/>
          </p:nvPr>
        </p:nvSpPr>
        <p:spPr>
          <a:xfrm>
            <a:off x="4785550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1" name="Google Shape;251;g3e33ad06252_2_1640"/>
          <p:cNvSpPr txBox="1"/>
          <p:nvPr>
            <p:ph idx="4" type="body"/>
          </p:nvPr>
        </p:nvSpPr>
        <p:spPr>
          <a:xfrm>
            <a:off x="6956263" y="4243800"/>
            <a:ext cx="1728600" cy="45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52" name="Google Shape;252;g3e33ad06252_2_1640"/>
          <p:cNvSpPr txBox="1"/>
          <p:nvPr>
            <p:ph type="title"/>
          </p:nvPr>
        </p:nvSpPr>
        <p:spPr>
          <a:xfrm>
            <a:off x="422609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3" name="Google Shape;253;g3e33ad06252_2_1640"/>
          <p:cNvSpPr txBox="1"/>
          <p:nvPr>
            <p:ph idx="5" type="title"/>
          </p:nvPr>
        </p:nvSpPr>
        <p:spPr>
          <a:xfrm>
            <a:off x="2614838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4" name="Google Shape;254;g3e33ad06252_2_1640"/>
          <p:cNvSpPr txBox="1"/>
          <p:nvPr>
            <p:ph idx="6" type="title"/>
          </p:nvPr>
        </p:nvSpPr>
        <p:spPr>
          <a:xfrm>
            <a:off x="4785550" y="3094675"/>
            <a:ext cx="1728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5" name="Google Shape;255;g3e33ad06252_2_1640"/>
          <p:cNvSpPr txBox="1"/>
          <p:nvPr>
            <p:ph idx="7" type="title"/>
          </p:nvPr>
        </p:nvSpPr>
        <p:spPr>
          <a:xfrm>
            <a:off x="6956263" y="3094675"/>
            <a:ext cx="1728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6" name="Google Shape;256;g3e33ad06252_2_1640"/>
          <p:cNvSpPr/>
          <p:nvPr/>
        </p:nvSpPr>
        <p:spPr>
          <a:xfrm>
            <a:off x="8141300" y="200278"/>
            <a:ext cx="823800" cy="19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e33ad06252_2_1640"/>
          <p:cNvSpPr txBox="1"/>
          <p:nvPr>
            <p:ph idx="8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8" name="Google Shape;258;g3e33ad06252_2_1640"/>
          <p:cNvSpPr/>
          <p:nvPr/>
        </p:nvSpPr>
        <p:spPr>
          <a:xfrm>
            <a:off x="7643840" y="0"/>
            <a:ext cx="658800" cy="65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g3e33ad06252_2_1640"/>
          <p:cNvSpPr/>
          <p:nvPr/>
        </p:nvSpPr>
        <p:spPr>
          <a:xfrm>
            <a:off x="7312266" y="887434"/>
            <a:ext cx="331500" cy="33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3e33ad06252_2_1640"/>
          <p:cNvSpPr/>
          <p:nvPr/>
        </p:nvSpPr>
        <p:spPr>
          <a:xfrm>
            <a:off x="8302516" y="377490"/>
            <a:ext cx="841500" cy="8415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e33ad06252_2_1640"/>
          <p:cNvSpPr/>
          <p:nvPr/>
        </p:nvSpPr>
        <p:spPr>
          <a:xfrm>
            <a:off x="8676264" y="751239"/>
            <a:ext cx="94200" cy="94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" name="Google Shape;262;g3e33ad06252_2_1640"/>
          <p:cNvCxnSpPr>
            <a:stCxn id="261" idx="7"/>
            <a:endCxn id="258" idx="7"/>
          </p:cNvCxnSpPr>
          <p:nvPr/>
        </p:nvCxnSpPr>
        <p:spPr>
          <a:xfrm rot="10800000">
            <a:off x="8206169" y="96334"/>
            <a:ext cx="550500" cy="66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g3e33ad06252_2_1640"/>
          <p:cNvCxnSpPr>
            <a:stCxn id="261" idx="4"/>
          </p:cNvCxnSpPr>
          <p:nvPr/>
        </p:nvCxnSpPr>
        <p:spPr>
          <a:xfrm flipH="1">
            <a:off x="7517364" y="845439"/>
            <a:ext cx="1206000" cy="36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g3e33ad06252_2_1640"/>
          <p:cNvCxnSpPr/>
          <p:nvPr/>
        </p:nvCxnSpPr>
        <p:spPr>
          <a:xfrm flipH="1" rot="10800000">
            <a:off x="7323426" y="233734"/>
            <a:ext cx="335400" cy="7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g3e33ad06252_2_1640"/>
          <p:cNvSpPr txBox="1"/>
          <p:nvPr>
            <p:ph idx="9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 4 content display">
  <p:cSld name="BLANK_1_1_1_1_1_1_1_1_1_1_1_2_1_2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e33ad06252_2_166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cxnSp>
        <p:nvCxnSpPr>
          <p:cNvPr id="268" name="Google Shape;268;g3e33ad06252_2_1660"/>
          <p:cNvCxnSpPr/>
          <p:nvPr/>
        </p:nvCxnSpPr>
        <p:spPr>
          <a:xfrm>
            <a:off x="0" y="12189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g3e33ad06252_2_1660"/>
          <p:cNvSpPr txBox="1"/>
          <p:nvPr>
            <p:ph idx="1" type="body"/>
          </p:nvPr>
        </p:nvSpPr>
        <p:spPr>
          <a:xfrm>
            <a:off x="25597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0" name="Google Shape;270;g3e33ad06252_2_1660"/>
          <p:cNvSpPr txBox="1"/>
          <p:nvPr>
            <p:ph idx="2" type="body"/>
          </p:nvPr>
        </p:nvSpPr>
        <p:spPr>
          <a:xfrm>
            <a:off x="4882425" y="1547275"/>
            <a:ext cx="3639600" cy="6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1" name="Google Shape;271;g3e33ad06252_2_1660"/>
          <p:cNvSpPr txBox="1"/>
          <p:nvPr>
            <p:ph idx="3" type="body"/>
          </p:nvPr>
        </p:nvSpPr>
        <p:spPr>
          <a:xfrm>
            <a:off x="3582350" y="3224900"/>
            <a:ext cx="3639600" cy="16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2" name="Google Shape;272;g3e33ad06252_2_1660"/>
          <p:cNvSpPr txBox="1"/>
          <p:nvPr>
            <p:ph idx="4" type="subTitle"/>
          </p:nvPr>
        </p:nvSpPr>
        <p:spPr>
          <a:xfrm>
            <a:off x="3582350" y="2987900"/>
            <a:ext cx="36396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3" name="Google Shape;273;g3e33ad06252_2_1660"/>
          <p:cNvSpPr/>
          <p:nvPr>
            <p:ph idx="5" type="pic"/>
          </p:nvPr>
        </p:nvSpPr>
        <p:spPr>
          <a:xfrm>
            <a:off x="256025" y="2987900"/>
            <a:ext cx="3176400" cy="19044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g3e33ad06252_2_1660"/>
          <p:cNvSpPr txBox="1"/>
          <p:nvPr>
            <p:ph idx="6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with image">
  <p:cSld name="BLANK_1_1_1_1_1_1_1_1_1_1_1_2_1_2_1_1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33ad06252_2_1669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7" name="Google Shape;277;g3e33ad06252_2_1669"/>
          <p:cNvSpPr/>
          <p:nvPr>
            <p:ph idx="2" type="pic"/>
          </p:nvPr>
        </p:nvSpPr>
        <p:spPr>
          <a:xfrm>
            <a:off x="6565675" y="6375"/>
            <a:ext cx="2578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g3e33ad06252_2_1669"/>
          <p:cNvSpPr txBox="1"/>
          <p:nvPr>
            <p:ph idx="1" type="body"/>
          </p:nvPr>
        </p:nvSpPr>
        <p:spPr>
          <a:xfrm>
            <a:off x="256600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79" name="Google Shape;279;g3e33ad06252_2_1669"/>
          <p:cNvSpPr txBox="1"/>
          <p:nvPr>
            <p:ph idx="3" type="title"/>
          </p:nvPr>
        </p:nvSpPr>
        <p:spPr>
          <a:xfrm>
            <a:off x="256600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0" name="Google Shape;280;g3e33ad06252_2_1669"/>
          <p:cNvSpPr txBox="1"/>
          <p:nvPr>
            <p:ph idx="4" type="body"/>
          </p:nvPr>
        </p:nvSpPr>
        <p:spPr>
          <a:xfrm>
            <a:off x="256600" y="3630275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1" name="Google Shape;281;g3e33ad06252_2_1669"/>
          <p:cNvSpPr txBox="1"/>
          <p:nvPr>
            <p:ph idx="5" type="title"/>
          </p:nvPr>
        </p:nvSpPr>
        <p:spPr>
          <a:xfrm>
            <a:off x="256600" y="3341200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2" name="Google Shape;282;g3e33ad06252_2_1669"/>
          <p:cNvSpPr txBox="1"/>
          <p:nvPr>
            <p:ph idx="6" type="body"/>
          </p:nvPr>
        </p:nvSpPr>
        <p:spPr>
          <a:xfrm>
            <a:off x="2582375" y="1672900"/>
            <a:ext cx="18816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3" name="Google Shape;283;g3e33ad06252_2_1669"/>
          <p:cNvSpPr txBox="1"/>
          <p:nvPr>
            <p:ph idx="7" type="title"/>
          </p:nvPr>
        </p:nvSpPr>
        <p:spPr>
          <a:xfrm>
            <a:off x="2582375" y="1383825"/>
            <a:ext cx="1881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1_1_1_1_1_1_1_1_2_1_2_1_1_1">
    <p:bg>
      <p:bgPr>
        <a:solidFill>
          <a:schemeClr val="dk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33ad06252_2_1678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86" name="Google Shape;286;g3e33ad06252_2_1678"/>
          <p:cNvSpPr/>
          <p:nvPr/>
        </p:nvSpPr>
        <p:spPr>
          <a:xfrm flipH="1" rot="10800000">
            <a:off x="5434850" y="1434600"/>
            <a:ext cx="3709200" cy="3708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g3e33ad06252_2_1678"/>
          <p:cNvSpPr txBox="1"/>
          <p:nvPr>
            <p:ph idx="1" type="body"/>
          </p:nvPr>
        </p:nvSpPr>
        <p:spPr>
          <a:xfrm>
            <a:off x="566475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88" name="Google Shape;288;g3e33ad06252_2_1678"/>
          <p:cNvSpPr txBox="1"/>
          <p:nvPr>
            <p:ph idx="2" type="title"/>
          </p:nvPr>
        </p:nvSpPr>
        <p:spPr>
          <a:xfrm>
            <a:off x="566475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89" name="Google Shape;289;g3e33ad06252_2_1678"/>
          <p:cNvSpPr txBox="1"/>
          <p:nvPr>
            <p:ph idx="3" type="body"/>
          </p:nvPr>
        </p:nvSpPr>
        <p:spPr>
          <a:xfrm>
            <a:off x="4937950" y="1548175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0" name="Google Shape;290;g3e33ad06252_2_1678"/>
          <p:cNvSpPr txBox="1"/>
          <p:nvPr>
            <p:ph idx="4" type="title"/>
          </p:nvPr>
        </p:nvSpPr>
        <p:spPr>
          <a:xfrm>
            <a:off x="4937950" y="1226825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1" name="Google Shape;291;g3e33ad06252_2_1678"/>
          <p:cNvSpPr txBox="1"/>
          <p:nvPr>
            <p:ph idx="5" type="body"/>
          </p:nvPr>
        </p:nvSpPr>
        <p:spPr>
          <a:xfrm>
            <a:off x="4937925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2" name="Google Shape;292;g3e33ad06252_2_1678"/>
          <p:cNvSpPr txBox="1"/>
          <p:nvPr>
            <p:ph idx="6" type="title"/>
          </p:nvPr>
        </p:nvSpPr>
        <p:spPr>
          <a:xfrm>
            <a:off x="4937925" y="3242950"/>
            <a:ext cx="36396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3" name="Google Shape;293;g3e33ad06252_2_1678"/>
          <p:cNvSpPr txBox="1"/>
          <p:nvPr>
            <p:ph idx="7" type="body"/>
          </p:nvPr>
        </p:nvSpPr>
        <p:spPr>
          <a:xfrm>
            <a:off x="566500" y="3564300"/>
            <a:ext cx="3639600" cy="8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294" name="Google Shape;294;g3e33ad06252_2_1678"/>
          <p:cNvSpPr txBox="1"/>
          <p:nvPr>
            <p:ph idx="8" type="title"/>
          </p:nvPr>
        </p:nvSpPr>
        <p:spPr>
          <a:xfrm>
            <a:off x="566500" y="3242950"/>
            <a:ext cx="36396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95" name="Google Shape;295;g3e33ad06252_2_1678"/>
          <p:cNvSpPr txBox="1"/>
          <p:nvPr>
            <p:ph idx="9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BLANK_1_1_1_1_1_1_1_1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33ad06252_2_1690"/>
          <p:cNvSpPr/>
          <p:nvPr/>
        </p:nvSpPr>
        <p:spPr>
          <a:xfrm flipH="1" rot="10800000">
            <a:off x="6711875" y="2691600"/>
            <a:ext cx="2451900" cy="24519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accent3"/>
              </a:gs>
              <a:gs pos="100000">
                <a:schemeClr val="accent3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g3e33ad06252_2_1690"/>
          <p:cNvSpPr txBox="1"/>
          <p:nvPr>
            <p:ph idx="1" type="subTitle"/>
          </p:nvPr>
        </p:nvSpPr>
        <p:spPr>
          <a:xfrm>
            <a:off x="4994475" y="10935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299" name="Google Shape;299;g3e33ad06252_2_1690"/>
          <p:cNvSpPr txBox="1"/>
          <p:nvPr>
            <p:ph idx="2" type="subTitle"/>
          </p:nvPr>
        </p:nvSpPr>
        <p:spPr>
          <a:xfrm>
            <a:off x="4994475" y="17213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0" name="Google Shape;300;g3e33ad06252_2_1690"/>
          <p:cNvSpPr txBox="1"/>
          <p:nvPr>
            <p:ph idx="3" type="subTitle"/>
          </p:nvPr>
        </p:nvSpPr>
        <p:spPr>
          <a:xfrm>
            <a:off x="4994475" y="234925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1" name="Google Shape;301;g3e33ad06252_2_1690"/>
          <p:cNvSpPr txBox="1"/>
          <p:nvPr>
            <p:ph idx="4" type="subTitle"/>
          </p:nvPr>
        </p:nvSpPr>
        <p:spPr>
          <a:xfrm>
            <a:off x="4994475" y="297712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2" name="Google Shape;302;g3e33ad06252_2_1690"/>
          <p:cNvSpPr txBox="1"/>
          <p:nvPr>
            <p:ph idx="5" type="subTitle"/>
          </p:nvPr>
        </p:nvSpPr>
        <p:spPr>
          <a:xfrm>
            <a:off x="4994475" y="3605000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3" name="Google Shape;303;g3e33ad06252_2_1690"/>
          <p:cNvSpPr txBox="1"/>
          <p:nvPr>
            <p:ph idx="6" type="subTitle"/>
          </p:nvPr>
        </p:nvSpPr>
        <p:spPr>
          <a:xfrm>
            <a:off x="4994475" y="4232875"/>
            <a:ext cx="3168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None/>
              <a:defRPr i="1" sz="14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304" name="Google Shape;304;g3e33ad06252_2_1690"/>
          <p:cNvSpPr/>
          <p:nvPr>
            <p:ph idx="7" type="pic"/>
          </p:nvPr>
        </p:nvSpPr>
        <p:spPr>
          <a:xfrm>
            <a:off x="50" y="1278300"/>
            <a:ext cx="4285500" cy="38652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g3e33ad06252_2_1690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6" name="Google Shape;306;g3e33ad06252_2_1690"/>
          <p:cNvSpPr txBox="1"/>
          <p:nvPr>
            <p:ph idx="8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g3e33ad06252_2_1690"/>
          <p:cNvSpPr txBox="1"/>
          <p:nvPr>
            <p:ph idx="9" type="subTitle"/>
          </p:nvPr>
        </p:nvSpPr>
        <p:spPr>
          <a:xfrm>
            <a:off x="5343675" y="10935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08" name="Google Shape;308;g3e33ad06252_2_1690"/>
          <p:cNvSpPr txBox="1"/>
          <p:nvPr>
            <p:ph idx="13" type="subTitle"/>
          </p:nvPr>
        </p:nvSpPr>
        <p:spPr>
          <a:xfrm>
            <a:off x="5343675" y="17213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09" name="Google Shape;309;g3e33ad06252_2_1690"/>
          <p:cNvSpPr txBox="1"/>
          <p:nvPr>
            <p:ph idx="14" type="subTitle"/>
          </p:nvPr>
        </p:nvSpPr>
        <p:spPr>
          <a:xfrm>
            <a:off x="5343675" y="234925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0" name="Google Shape;310;g3e33ad06252_2_1690"/>
          <p:cNvSpPr txBox="1"/>
          <p:nvPr>
            <p:ph idx="15" type="subTitle"/>
          </p:nvPr>
        </p:nvSpPr>
        <p:spPr>
          <a:xfrm>
            <a:off x="5343675" y="297712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1" name="Google Shape;311;g3e33ad06252_2_1690"/>
          <p:cNvSpPr txBox="1"/>
          <p:nvPr>
            <p:ph idx="16" type="subTitle"/>
          </p:nvPr>
        </p:nvSpPr>
        <p:spPr>
          <a:xfrm>
            <a:off x="5343675" y="3605000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  <p:sp>
        <p:nvSpPr>
          <p:cNvPr id="312" name="Google Shape;312;g3e33ad06252_2_1690"/>
          <p:cNvSpPr txBox="1"/>
          <p:nvPr>
            <p:ph idx="17" type="subTitle"/>
          </p:nvPr>
        </p:nvSpPr>
        <p:spPr>
          <a:xfrm>
            <a:off x="5343675" y="4232875"/>
            <a:ext cx="3544500" cy="1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alt">
  <p:cSld name="BLANK_1_1_1_1_1_1_1_1_1_1_1_1_1_1_1_1_1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33ad06252_2_1707"/>
          <p:cNvSpPr txBox="1"/>
          <p:nvPr>
            <p:ph idx="1" type="body"/>
          </p:nvPr>
        </p:nvSpPr>
        <p:spPr>
          <a:xfrm>
            <a:off x="256025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5" name="Google Shape;315;g3e33ad06252_2_1707"/>
          <p:cNvSpPr txBox="1"/>
          <p:nvPr>
            <p:ph idx="2" type="body"/>
          </p:nvPr>
        </p:nvSpPr>
        <p:spPr>
          <a:xfrm>
            <a:off x="3241424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6" name="Google Shape;316;g3e33ad06252_2_1707"/>
          <p:cNvSpPr txBox="1"/>
          <p:nvPr>
            <p:ph idx="3" type="body"/>
          </p:nvPr>
        </p:nvSpPr>
        <p:spPr>
          <a:xfrm>
            <a:off x="6226798" y="4056350"/>
            <a:ext cx="2661300" cy="8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17" name="Google Shape;317;g3e33ad06252_2_1707"/>
          <p:cNvSpPr/>
          <p:nvPr>
            <p:ph idx="4" type="pic"/>
          </p:nvPr>
        </p:nvSpPr>
        <p:spPr>
          <a:xfrm>
            <a:off x="2560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8" name="Google Shape;318;g3e33ad06252_2_1707"/>
          <p:cNvSpPr/>
          <p:nvPr>
            <p:ph idx="5" type="pic"/>
          </p:nvPr>
        </p:nvSpPr>
        <p:spPr>
          <a:xfrm>
            <a:off x="3241425" y="1597425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g3e33ad06252_2_1707"/>
          <p:cNvSpPr/>
          <p:nvPr>
            <p:ph idx="6" type="pic"/>
          </p:nvPr>
        </p:nvSpPr>
        <p:spPr>
          <a:xfrm>
            <a:off x="6226825" y="1588650"/>
            <a:ext cx="2661300" cy="19662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g3e33ad06252_2_1707"/>
          <p:cNvSpPr txBox="1"/>
          <p:nvPr>
            <p:ph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21" name="Google Shape;321;g3e33ad06252_2_1707"/>
          <p:cNvSpPr txBox="1"/>
          <p:nvPr>
            <p:ph idx="7" type="subTitle"/>
          </p:nvPr>
        </p:nvSpPr>
        <p:spPr>
          <a:xfrm>
            <a:off x="2560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g3e33ad06252_2_1707"/>
          <p:cNvSpPr txBox="1"/>
          <p:nvPr>
            <p:ph idx="8" type="subTitle"/>
          </p:nvPr>
        </p:nvSpPr>
        <p:spPr>
          <a:xfrm>
            <a:off x="32413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g3e33ad06252_2_1707"/>
          <p:cNvSpPr txBox="1"/>
          <p:nvPr>
            <p:ph idx="9" type="subTitle"/>
          </p:nvPr>
        </p:nvSpPr>
        <p:spPr>
          <a:xfrm>
            <a:off x="6226650" y="3765870"/>
            <a:ext cx="2661300" cy="1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g3e33ad06252_2_1707"/>
          <p:cNvSpPr txBox="1"/>
          <p:nvPr>
            <p:ph idx="13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BLANK_1_1_1_1_1_1_1_1_1_1_1_1_1_1_1_1_1_1_1_2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33ad06252_2_1719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g3e33ad06252_2_1719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g3e33ad06252_2_1719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9" name="Google Shape;329;g3e33ad06252_2_1719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0" name="Google Shape;330;g3e33ad06252_2_1719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1" name="Google Shape;331;g3e33ad06252_2_1719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32" name="Google Shape;332;g3e33ad06252_2_1719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3" name="Google Shape;333;g3e33ad06252_2_1719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4" name="Google Shape;334;g3e33ad06252_2_1719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5" name="Google Shape;335;g3e33ad06252_2_1719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6" name="Google Shape;336;g3e33ad06252_2_1719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7" name="Google Shape;337;g3e33ad06252_2_1719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8" name="Google Shape;338;g3e33ad06252_2_1719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39" name="Google Shape;339;g3e33ad06252_2_1719"/>
          <p:cNvSpPr txBox="1"/>
          <p:nvPr>
            <p:ph idx="1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- Alt 1">
  <p:cSld name="BLANK_1_1_1_1_1_1_1_1_1_1_1_1_1_1_1_1_1_1_1_2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33ad06252_2_1734"/>
          <p:cNvSpPr/>
          <p:nvPr>
            <p:ph idx="2" type="pic"/>
          </p:nvPr>
        </p:nvSpPr>
        <p:spPr>
          <a:xfrm>
            <a:off x="27250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g3e33ad06252_2_1734"/>
          <p:cNvSpPr/>
          <p:nvPr>
            <p:ph idx="3" type="pic"/>
          </p:nvPr>
        </p:nvSpPr>
        <p:spPr>
          <a:xfrm>
            <a:off x="7115925" y="1596075"/>
            <a:ext cx="1498500" cy="14985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g3e33ad06252_2_1734"/>
          <p:cNvSpPr/>
          <p:nvPr>
            <p:ph idx="4" type="pic"/>
          </p:nvPr>
        </p:nvSpPr>
        <p:spPr>
          <a:xfrm>
            <a:off x="49204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4" name="Google Shape;344;g3e33ad06252_2_1734"/>
          <p:cNvSpPr/>
          <p:nvPr>
            <p:ph idx="5" type="pic"/>
          </p:nvPr>
        </p:nvSpPr>
        <p:spPr>
          <a:xfrm>
            <a:off x="529575" y="1596075"/>
            <a:ext cx="1498500" cy="1498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5" name="Google Shape;345;g3e33ad06252_2_1734"/>
          <p:cNvSpPr txBox="1"/>
          <p:nvPr>
            <p:ph type="title"/>
          </p:nvPr>
        </p:nvSpPr>
        <p:spPr>
          <a:xfrm>
            <a:off x="52957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6" name="Google Shape;346;g3e33ad06252_2_1734"/>
          <p:cNvSpPr txBox="1"/>
          <p:nvPr>
            <p:ph idx="6" type="title"/>
          </p:nvPr>
        </p:nvSpPr>
        <p:spPr>
          <a:xfrm>
            <a:off x="256025" y="213150"/>
            <a:ext cx="5750100" cy="5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47" name="Google Shape;347;g3e33ad06252_2_1734"/>
          <p:cNvSpPr txBox="1"/>
          <p:nvPr>
            <p:ph idx="7" type="title"/>
          </p:nvPr>
        </p:nvSpPr>
        <p:spPr>
          <a:xfrm>
            <a:off x="5295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48" name="Google Shape;348;g3e33ad06252_2_1734"/>
          <p:cNvSpPr txBox="1"/>
          <p:nvPr>
            <p:ph idx="8" type="title"/>
          </p:nvPr>
        </p:nvSpPr>
        <p:spPr>
          <a:xfrm>
            <a:off x="27250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49" name="Google Shape;349;g3e33ad06252_2_1734"/>
          <p:cNvSpPr txBox="1"/>
          <p:nvPr>
            <p:ph idx="9" type="title"/>
          </p:nvPr>
        </p:nvSpPr>
        <p:spPr>
          <a:xfrm>
            <a:off x="27250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0" name="Google Shape;350;g3e33ad06252_2_1734"/>
          <p:cNvSpPr txBox="1"/>
          <p:nvPr>
            <p:ph idx="13" type="title"/>
          </p:nvPr>
        </p:nvSpPr>
        <p:spPr>
          <a:xfrm>
            <a:off x="4920475" y="3352550"/>
            <a:ext cx="1498500" cy="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1" name="Google Shape;351;g3e33ad06252_2_1734"/>
          <p:cNvSpPr txBox="1"/>
          <p:nvPr>
            <p:ph idx="14" type="title"/>
          </p:nvPr>
        </p:nvSpPr>
        <p:spPr>
          <a:xfrm>
            <a:off x="492047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2" name="Google Shape;352;g3e33ad06252_2_1734"/>
          <p:cNvSpPr txBox="1"/>
          <p:nvPr>
            <p:ph idx="15" type="title"/>
          </p:nvPr>
        </p:nvSpPr>
        <p:spPr>
          <a:xfrm>
            <a:off x="7115925" y="3352550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3" name="Google Shape;353;g3e33ad06252_2_1734"/>
          <p:cNvSpPr txBox="1"/>
          <p:nvPr>
            <p:ph idx="16" type="title"/>
          </p:nvPr>
        </p:nvSpPr>
        <p:spPr>
          <a:xfrm>
            <a:off x="7115925" y="3582694"/>
            <a:ext cx="1498500" cy="1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54" name="Google Shape;354;g3e33ad06252_2_1734"/>
          <p:cNvSpPr txBox="1"/>
          <p:nvPr>
            <p:ph idx="1" type="body"/>
          </p:nvPr>
        </p:nvSpPr>
        <p:spPr>
          <a:xfrm>
            <a:off x="2432125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5" name="Google Shape;355;g3e33ad06252_2_1734"/>
          <p:cNvSpPr txBox="1"/>
          <p:nvPr>
            <p:ph idx="17" type="body"/>
          </p:nvPr>
        </p:nvSpPr>
        <p:spPr>
          <a:xfrm>
            <a:off x="25602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6" name="Google Shape;356;g3e33ad06252_2_1734"/>
          <p:cNvSpPr txBox="1"/>
          <p:nvPr>
            <p:ph idx="18" type="body"/>
          </p:nvPr>
        </p:nvSpPr>
        <p:spPr>
          <a:xfrm>
            <a:off x="6821675" y="3851275"/>
            <a:ext cx="20664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7" name="Google Shape;357;g3e33ad06252_2_1734"/>
          <p:cNvSpPr txBox="1"/>
          <p:nvPr>
            <p:ph idx="19" type="body"/>
          </p:nvPr>
        </p:nvSpPr>
        <p:spPr>
          <a:xfrm>
            <a:off x="4629100" y="3851275"/>
            <a:ext cx="2085000" cy="7758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/>
            </a:lvl9pPr>
          </a:lstStyle>
          <a:p/>
        </p:txBody>
      </p:sp>
      <p:sp>
        <p:nvSpPr>
          <p:cNvPr id="358" name="Google Shape;358;g3e33ad06252_2_1734"/>
          <p:cNvSpPr txBox="1"/>
          <p:nvPr>
            <p:ph idx="20" type="subTitle"/>
          </p:nvPr>
        </p:nvSpPr>
        <p:spPr>
          <a:xfrm>
            <a:off x="7657750" y="256025"/>
            <a:ext cx="1230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1_1_1_1_1_1_1_1_1_1_1_1_1_1_1_1_1_1_1_1_1_1">
    <p:bg>
      <p:bgPr>
        <a:solidFill>
          <a:schemeClr val="dk2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33ad06252_2_1753"/>
          <p:cNvSpPr/>
          <p:nvPr/>
        </p:nvSpPr>
        <p:spPr>
          <a:xfrm>
            <a:off x="0" y="1182000"/>
            <a:ext cx="1873200" cy="30603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e33ad06252_2_1753"/>
          <p:cNvSpPr/>
          <p:nvPr/>
        </p:nvSpPr>
        <p:spPr>
          <a:xfrm>
            <a:off x="0" y="1182000"/>
            <a:ext cx="1873200" cy="18732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g3e33ad06252_2_1753"/>
          <p:cNvSpPr/>
          <p:nvPr/>
        </p:nvSpPr>
        <p:spPr>
          <a:xfrm>
            <a:off x="0" y="1182000"/>
            <a:ext cx="1873200" cy="683700"/>
          </a:xfrm>
          <a:prstGeom prst="ellipse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3e33ad06252_2_1753"/>
          <p:cNvSpPr/>
          <p:nvPr/>
        </p:nvSpPr>
        <p:spPr>
          <a:xfrm>
            <a:off x="0" y="0"/>
            <a:ext cx="1873200" cy="118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e33ad06252_2_1753"/>
          <p:cNvSpPr/>
          <p:nvPr/>
        </p:nvSpPr>
        <p:spPr>
          <a:xfrm>
            <a:off x="806250" y="1052675"/>
            <a:ext cx="260700" cy="260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e33ad06252_2_1753"/>
          <p:cNvSpPr/>
          <p:nvPr/>
        </p:nvSpPr>
        <p:spPr>
          <a:xfrm>
            <a:off x="0" y="4246550"/>
            <a:ext cx="9144000" cy="901200"/>
          </a:xfrm>
          <a:prstGeom prst="rect">
            <a:avLst/>
          </a:prstGeom>
          <a:gradFill>
            <a:gsLst>
              <a:gs pos="0">
                <a:schemeClr val="dk1"/>
              </a:gs>
              <a:gs pos="72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6" name="Google Shape;366;g3e33ad06252_2_1753"/>
          <p:cNvCxnSpPr/>
          <p:nvPr/>
        </p:nvCxnSpPr>
        <p:spPr>
          <a:xfrm>
            <a:off x="0" y="424442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g3e33ad06252_2_1753"/>
          <p:cNvCxnSpPr/>
          <p:nvPr/>
        </p:nvCxnSpPr>
        <p:spPr>
          <a:xfrm>
            <a:off x="1873325" y="0"/>
            <a:ext cx="0" cy="424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g3e33ad06252_2_1753"/>
          <p:cNvSpPr txBox="1"/>
          <p:nvPr>
            <p:ph type="title"/>
          </p:nvPr>
        </p:nvSpPr>
        <p:spPr>
          <a:xfrm>
            <a:off x="2322425" y="602225"/>
            <a:ext cx="65658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ontserrat"/>
              <a:buNone/>
              <a:defRPr sz="9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9" name="Google Shape;369;g3e33ad06252_2_1753"/>
          <p:cNvSpPr txBox="1"/>
          <p:nvPr>
            <p:ph idx="2" type="title"/>
          </p:nvPr>
        </p:nvSpPr>
        <p:spPr>
          <a:xfrm>
            <a:off x="2322425" y="1389575"/>
            <a:ext cx="6565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urce Serif 4"/>
              <a:buNone/>
              <a:defRPr sz="9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33ad06252_2_17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2" name="Google Shape;372;g3e33ad06252_2_17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33ad06252_2_17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33ad06252_2_17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77" name="Google Shape;377;g3e33ad06252_2_17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33ad06252_2_17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80" name="Google Shape;380;g3e33ad06252_2_177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1" name="Google Shape;381;g3e33ad06252_2_177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33ad06252_2_17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33ad06252_2_177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6" name="Google Shape;386;g3e33ad06252_2_177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33ad06252_2_178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33ad06252_2_178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1" name="Google Shape;391;g3e33ad06252_2_178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2" name="Google Shape;392;g3e33ad06252_2_178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33ad06252_2_178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33ad06252_2_17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7" name="Google Shape;397;g3e33ad06252_2_17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33ad06252_2_179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01" name="Google Shape;401;g3e33ad06252_2_179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g3e33ad06252_2_179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g3e33ad06252_2_179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g3e33ad06252_2_179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g3e33ad06252_2_179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g3e33ad06252_2_179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33ad06252_2_18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09" name="Google Shape;409;g3e33ad06252_2_180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0" name="Google Shape;410;g3e33ad06252_2_180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33ad06252_2_180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3" name="Google Shape;413;g3e33ad06252_2_180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4" name="Google Shape;414;g3e33ad06252_2_180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5" name="Google Shape;415;g3e33ad06252_2_180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g3e33ad06252_2_180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33ad06252_2_181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19" name="Google Shape;419;g3e33ad06252_2_181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0" name="Google Shape;420;g3e33ad06252_2_181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1" name="Google Shape;421;g3e33ad06252_2_181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g3e33ad06252_2_181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3" name="Google Shape;423;g3e33ad06252_2_181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g3e33ad06252_2_181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33ad06252_2_181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7" name="Google Shape;427;g3e33ad06252_2_181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8" name="Google Shape;428;g3e33ad06252_2_181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9" name="Google Shape;429;g3e33ad06252_2_181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30" name="Google Shape;430;g3e33ad06252_2_181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1" name="Google Shape;431;g3e33ad06252_2_181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g3e33ad06252_2_181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g3e33ad06252_2_181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g3e33ad06252_2_181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33ad06252_2_18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37" name="Google Shape;437;g3e33ad06252_2_182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33ad06252_2_183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0" name="Google Shape;440;g3e33ad06252_2_183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g3e33ad06252_2_183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g3e33ad06252_2_183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3" name="Google Shape;443;g3e33ad06252_2_18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44" name="Google Shape;444;g3e33ad06252_2_183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5" name="Google Shape;445;g3e33ad06252_2_183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33ad06252_2_18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8" name="Google Shape;448;g3e33ad06252_2_18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g3e33ad06252_2_18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g3e33ad06252_2_18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1" name="Google Shape;451;g3e33ad06252_2_18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g3e33ad06252_2_18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g3e33ad06252_2_18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54" name="Google Shape;454;g3e33ad06252_2_18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g3e33ad06252_2_18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6" name="Google Shape;456;g3e33ad06252_2_18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e33ad06252_2_18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33ad06252_2_18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g3e33ad06252_2_18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g3e33ad06252_2_18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g3e33ad06252_2_18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g3e33ad06252_2_18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g3e33ad06252_2_18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g3e33ad06252_2_18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7" name="Google Shape;467;g3e33ad06252_2_18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g3e33ad06252_2_18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g3e33ad06252_2_18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5.xml"/><Relationship Id="rId4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33ad06252_2_1477"/>
          <p:cNvSpPr txBox="1"/>
          <p:nvPr>
            <p:ph idx="1" type="body"/>
          </p:nvPr>
        </p:nvSpPr>
        <p:spPr>
          <a:xfrm>
            <a:off x="256025" y="2647675"/>
            <a:ext cx="36396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6" name="Google Shape;86;g3e33ad06252_2_1477"/>
          <p:cNvSpPr txBox="1"/>
          <p:nvPr>
            <p:ph type="title"/>
          </p:nvPr>
        </p:nvSpPr>
        <p:spPr>
          <a:xfrm>
            <a:off x="256025" y="499600"/>
            <a:ext cx="5366700" cy="1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i="1"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Source Serif 4"/>
              <a:buNone/>
              <a:defRPr sz="4800">
                <a:solidFill>
                  <a:schemeClr val="dk1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9pPr>
          </a:lstStyle>
          <a:p/>
        </p:txBody>
      </p:sp>
      <p:sp>
        <p:nvSpPr>
          <p:cNvPr id="87" name="Google Shape;87;g3e33ad06252_2_1477"/>
          <p:cNvSpPr txBox="1"/>
          <p:nvPr>
            <p:ph idx="2" type="body"/>
          </p:nvPr>
        </p:nvSpPr>
        <p:spPr>
          <a:xfrm>
            <a:off x="4564425" y="2634200"/>
            <a:ext cx="35652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●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○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Char char="■"/>
              <a:defRPr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61">
          <p15:clr>
            <a:srgbClr val="E46962"/>
          </p15:clr>
        </p15:guide>
        <p15:guide id="2" pos="5599">
          <p15:clr>
            <a:srgbClr val="E46962"/>
          </p15:clr>
        </p15:guide>
        <p15:guide id="3" orient="horz" pos="161">
          <p15:clr>
            <a:srgbClr val="E46962"/>
          </p15:clr>
        </p15:guide>
        <p15:guide id="4" orient="horz" pos="3079">
          <p15:clr>
            <a:srgbClr val="E46962"/>
          </p15:clr>
        </p15:guide>
        <p15:guide id="5" pos="1463">
          <p15:clr>
            <a:srgbClr val="E46962"/>
          </p15:clr>
        </p15:guide>
        <p15:guide id="6" pos="1532">
          <p15:clr>
            <a:srgbClr val="E46962"/>
          </p15:clr>
        </p15:guide>
        <p15:guide id="7" pos="2845">
          <p15:clr>
            <a:srgbClr val="E46962"/>
          </p15:clr>
        </p15:guide>
        <p15:guide id="8" pos="2916">
          <p15:clr>
            <a:srgbClr val="E46962"/>
          </p15:clr>
        </p15:guide>
        <p15:guide id="9" pos="4228">
          <p15:clr>
            <a:srgbClr val="E46962"/>
          </p15:clr>
        </p15:guide>
        <p15:guide id="10" pos="4297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imar.ro/" TargetMode="External"/><Relationship Id="rId4" Type="http://schemas.openxmlformats.org/officeDocument/2006/relationships/hyperlink" Target="https://cs.unibuc.ro/" TargetMode="External"/><Relationship Id="rId5" Type="http://schemas.openxmlformats.org/officeDocument/2006/relationships/hyperlink" Target="https://ilds.r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33ad06252_2_0"/>
          <p:cNvSpPr txBox="1"/>
          <p:nvPr/>
        </p:nvSpPr>
        <p:spPr>
          <a:xfrm>
            <a:off x="1911750" y="2507875"/>
            <a:ext cx="5320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FBFBF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part 4</a:t>
            </a:r>
            <a:endParaRPr sz="9600">
              <a:solidFill>
                <a:srgbClr val="FBFBFB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76" name="Google Shape;476;g3e33ad06252_2_0"/>
          <p:cNvSpPr/>
          <p:nvPr/>
        </p:nvSpPr>
        <p:spPr>
          <a:xfrm rot="8100000">
            <a:off x="3871427" y="2003674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7" name="Google Shape;477;g3e33ad06252_2_0"/>
          <p:cNvSpPr/>
          <p:nvPr/>
        </p:nvSpPr>
        <p:spPr>
          <a:xfrm flipH="1" rot="2700000">
            <a:off x="3871430" y="2276382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8" name="Google Shape;478;g3e33ad06252_2_0"/>
          <p:cNvSpPr/>
          <p:nvPr/>
        </p:nvSpPr>
        <p:spPr>
          <a:xfrm flipH="1" rot="-8100000">
            <a:off x="4865260" y="1993995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79" name="Google Shape;479;g3e33ad06252_2_0"/>
          <p:cNvSpPr/>
          <p:nvPr/>
        </p:nvSpPr>
        <p:spPr>
          <a:xfrm rot="-2700000">
            <a:off x="4865256" y="2266703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0" name="Google Shape;480;g3e33ad06252_2_0"/>
          <p:cNvSpPr/>
          <p:nvPr/>
        </p:nvSpPr>
        <p:spPr>
          <a:xfrm rot="2700000">
            <a:off x="4220664" y="2628938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1" name="Google Shape;481;g3e33ad06252_2_0"/>
          <p:cNvSpPr/>
          <p:nvPr/>
        </p:nvSpPr>
        <p:spPr>
          <a:xfrm flipH="1" rot="-2700000">
            <a:off x="4493362" y="2628934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2" name="Google Shape;482;g3e33ad06252_2_0"/>
          <p:cNvSpPr/>
          <p:nvPr/>
        </p:nvSpPr>
        <p:spPr>
          <a:xfrm rot="-8100000">
            <a:off x="4506919" y="1640200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3" name="Google Shape;483;g3e33ad06252_2_0"/>
          <p:cNvSpPr/>
          <p:nvPr/>
        </p:nvSpPr>
        <p:spPr>
          <a:xfrm flipH="1" rot="8100000">
            <a:off x="4234221" y="1640203"/>
            <a:ext cx="28892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4" name="Google Shape;484;g3e33ad06252_2_0"/>
          <p:cNvSpPr/>
          <p:nvPr/>
        </p:nvSpPr>
        <p:spPr>
          <a:xfrm rot="-2700000">
            <a:off x="4617783" y="1639487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5" name="Google Shape;485;g3e33ad06252_2_0"/>
          <p:cNvSpPr/>
          <p:nvPr/>
        </p:nvSpPr>
        <p:spPr>
          <a:xfrm rot="-2700000">
            <a:off x="3613368" y="2641111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6" name="Google Shape;486;g3e33ad06252_2_0"/>
          <p:cNvSpPr/>
          <p:nvPr/>
        </p:nvSpPr>
        <p:spPr>
          <a:xfrm flipH="1" rot="2700000">
            <a:off x="3625698" y="1632041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7" name="Google Shape;487;g3e33ad06252_2_0"/>
          <p:cNvSpPr/>
          <p:nvPr/>
        </p:nvSpPr>
        <p:spPr>
          <a:xfrm flipH="1" rot="2700000">
            <a:off x="4630113" y="2633665"/>
            <a:ext cx="787434" cy="86550"/>
          </a:xfrm>
          <a:prstGeom prst="roundRect">
            <a:avLst>
              <a:gd fmla="val 50000" name="adj"/>
            </a:avLst>
          </a:prstGeom>
          <a:solidFill>
            <a:srgbClr val="D21117"/>
          </a:solidFill>
          <a:ln cap="flat" cmpd="sng" w="54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8" name="Google Shape;488;g3e33ad06252_2_0"/>
          <p:cNvSpPr/>
          <p:nvPr/>
        </p:nvSpPr>
        <p:spPr>
          <a:xfrm>
            <a:off x="3689736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89" name="Google Shape;489;g3e33ad06252_2_0"/>
          <p:cNvSpPr/>
          <p:nvPr/>
        </p:nvSpPr>
        <p:spPr>
          <a:xfrm>
            <a:off x="4316603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0" name="Google Shape;490;g3e33ad06252_2_0"/>
          <p:cNvSpPr/>
          <p:nvPr/>
        </p:nvSpPr>
        <p:spPr>
          <a:xfrm>
            <a:off x="4943471" y="1333502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1" name="Google Shape;491;g3e33ad06252_2_0"/>
          <p:cNvSpPr/>
          <p:nvPr/>
        </p:nvSpPr>
        <p:spPr>
          <a:xfrm>
            <a:off x="3689736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2" name="Google Shape;492;g3e33ad06252_2_0"/>
          <p:cNvSpPr/>
          <p:nvPr/>
        </p:nvSpPr>
        <p:spPr>
          <a:xfrm>
            <a:off x="4316603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3" name="Google Shape;493;g3e33ad06252_2_0"/>
          <p:cNvSpPr/>
          <p:nvPr/>
        </p:nvSpPr>
        <p:spPr>
          <a:xfrm>
            <a:off x="4943471" y="1973347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4" name="Google Shape;494;g3e33ad06252_2_0"/>
          <p:cNvSpPr/>
          <p:nvPr/>
        </p:nvSpPr>
        <p:spPr>
          <a:xfrm>
            <a:off x="3689736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5" name="Google Shape;495;g3e33ad06252_2_0"/>
          <p:cNvSpPr/>
          <p:nvPr/>
        </p:nvSpPr>
        <p:spPr>
          <a:xfrm>
            <a:off x="4316603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6" name="Google Shape;496;g3e33ad06252_2_0"/>
          <p:cNvSpPr/>
          <p:nvPr/>
        </p:nvSpPr>
        <p:spPr>
          <a:xfrm>
            <a:off x="4943471" y="2613191"/>
            <a:ext cx="401100" cy="400800"/>
          </a:xfrm>
          <a:prstGeom prst="ellipse">
            <a:avLst/>
          </a:prstGeom>
          <a:solidFill>
            <a:srgbClr val="FFFFFF"/>
          </a:solidFill>
          <a:ln cap="flat" cmpd="sng" w="85225">
            <a:solidFill>
              <a:srgbClr val="D2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350" lIns="51350" spcFirstLastPara="1" rIns="51350" wrap="square" tIns="5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83"/>
          </a:p>
        </p:txBody>
      </p:sp>
      <p:sp>
        <p:nvSpPr>
          <p:cNvPr id="497" name="Google Shape;497;g3e33ad06252_2_0"/>
          <p:cNvSpPr txBox="1"/>
          <p:nvPr/>
        </p:nvSpPr>
        <p:spPr>
          <a:xfrm>
            <a:off x="1601700" y="4229100"/>
            <a:ext cx="5940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Neuro-Symbolic AI Seminar organized by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IMAR</a:t>
            </a: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FMI-CS</a:t>
            </a:r>
            <a:r>
              <a:rPr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</a:t>
            </a:r>
            <a:r>
              <a:rPr lang="en-US" sz="1000">
                <a:solidFill>
                  <a:srgbClr val="353635"/>
                </a:solidFill>
                <a:uFill>
                  <a:noFill/>
                </a:uFill>
                <a:latin typeface="Source Serif 4"/>
                <a:ea typeface="Source Serif 4"/>
                <a:cs typeface="Source Serif 4"/>
                <a:sym typeface="Source Serif 4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ILDS</a:t>
            </a:r>
            <a:br>
              <a:rPr i="1"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i="1" lang="en-US" sz="10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Radu Negulescu - 21.05.2026</a:t>
            </a:r>
            <a:endParaRPr i="1" sz="10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g3e33ad06252_2_104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04" name="Google Shape;504;g3e33ad06252_2_10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5" name="Google Shape;505;g3e33ad06252_2_10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6" name="Google Shape;506;g3e33ad06252_2_10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7" name="Google Shape;507;g3e33ad06252_2_10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8" name="Google Shape;508;g3e33ad06252_2_10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09" name="Google Shape;509;g3e33ad06252_2_10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0" name="Google Shape;510;g3e33ad06252_2_10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1" name="Google Shape;511;g3e33ad06252_2_10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2" name="Google Shape;512;g3e33ad06252_2_10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3" name="Google Shape;513;g3e33ad06252_2_10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4" name="Google Shape;514;g3e33ad06252_2_10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5" name="Google Shape;515;g3e33ad06252_2_10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6" name="Google Shape;516;g3e33ad06252_2_10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7" name="Google Shape;517;g3e33ad06252_2_10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8" name="Google Shape;518;g3e33ad06252_2_10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19" name="Google Shape;519;g3e33ad06252_2_10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0" name="Google Shape;520;g3e33ad06252_2_10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1" name="Google Shape;521;g3e33ad06252_2_10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2" name="Google Shape;522;g3e33ad06252_2_10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3" name="Google Shape;523;g3e33ad06252_2_10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24" name="Google Shape;524;g3e33ad06252_2_10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25" name="Google Shape;525;g3e33ad06252_2_104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4th IBF seminar 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26" name="Google Shape;526;g3e33ad06252_2_104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g3e33ad06252_2_104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28" name="Google Shape;528;g3e33ad06252_2_104"/>
          <p:cNvSpPr txBox="1"/>
          <p:nvPr/>
        </p:nvSpPr>
        <p:spPr>
          <a:xfrm>
            <a:off x="1113216" y="1778325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first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Alignment as Ontology: 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Formalizing Coherence-Based Intelligence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g3e33ad06252_2_104"/>
          <p:cNvSpPr txBox="1"/>
          <p:nvPr/>
        </p:nvSpPr>
        <p:spPr>
          <a:xfrm>
            <a:off x="1113216" y="2780906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second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The Informational Buildup Framework: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A Model for Coherence-Driven Self-Organization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g3e33ad06252_2_104"/>
          <p:cNvSpPr txBox="1"/>
          <p:nvPr/>
        </p:nvSpPr>
        <p:spPr>
          <a:xfrm>
            <a:off x="1113216" y="3835725"/>
            <a:ext cx="729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third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 session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10.24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Information as Structural Alignment: </a:t>
            </a:r>
            <a:b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 Dynamical Theory of Continual Learning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g3e33ad06252_2_14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37" name="Google Shape;537;g3e33ad06252_2_14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38" name="Google Shape;538;g3e33ad06252_2_14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39" name="Google Shape;539;g3e33ad06252_2_14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0" name="Google Shape;540;g3e33ad06252_2_14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1" name="Google Shape;541;g3e33ad06252_2_14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2" name="Google Shape;542;g3e33ad06252_2_14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3" name="Google Shape;543;g3e33ad06252_2_14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4" name="Google Shape;544;g3e33ad06252_2_14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5" name="Google Shape;545;g3e33ad06252_2_14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6" name="Google Shape;546;g3e33ad06252_2_14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7" name="Google Shape;547;g3e33ad06252_2_14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8" name="Google Shape;548;g3e33ad06252_2_14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49" name="Google Shape;549;g3e33ad06252_2_14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0" name="Google Shape;550;g3e33ad06252_2_14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1" name="Google Shape;551;g3e33ad06252_2_14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2" name="Google Shape;552;g3e33ad06252_2_14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3" name="Google Shape;553;g3e33ad06252_2_14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4" name="Google Shape;554;g3e33ad06252_2_14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5" name="Google Shape;555;g3e33ad06252_2_14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6" name="Google Shape;556;g3e33ad06252_2_14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57" name="Google Shape;557;g3e33ad06252_2_14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58" name="Google Shape;558;g3e33ad06252_2_146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What we have?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9" name="Google Shape;559;g3e33ad06252_2_14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g3e33ad06252_2_146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61" name="Google Shape;561;g3e33ad06252_2_146"/>
          <p:cNvSpPr txBox="1"/>
          <p:nvPr/>
        </p:nvSpPr>
        <p:spPr>
          <a:xfrm>
            <a:off x="1113216" y="1778325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 central premise</a:t>
            </a:r>
            <a:b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Information is the achievement of structural alignment between a system’s internal configuration and the structure of its environment.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g3e33ad06252_2_146"/>
          <p:cNvSpPr txBox="1"/>
          <p:nvPr/>
        </p:nvSpPr>
        <p:spPr>
          <a:xfrm>
            <a:off x="1113216" y="2780906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an axiomatic system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four fundamental axioms </a:t>
            </a:r>
            <a:r>
              <a:rPr i="1"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( that define existence &amp; motion )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and a postulate for modification dynamics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g3e33ad06252_2_146"/>
          <p:cNvSpPr txBox="1"/>
          <p:nvPr/>
        </p:nvSpPr>
        <p:spPr>
          <a:xfrm>
            <a:off x="1113216" y="3835725"/>
            <a:ext cx="7290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a framework instantiation</a:t>
            </a:r>
            <a:r>
              <a:rPr b="1" lang="en-US" sz="12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2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IBF instantiated as a 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en-US" sz="16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correction field with derived capacities validated in 4 different regimes. 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2D toy model, 8D 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synthetic</a:t>
            </a:r>
            <a:r>
              <a:rPr i="1" lang="en-US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rPr>
              <a:t> world, 12D chess, 72 CIFAR  </a:t>
            </a:r>
            <a:endParaRPr i="1" sz="1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g3e33ad06252_2_181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570" name="Google Shape;570;g3e33ad06252_2_181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1" name="Google Shape;571;g3e33ad06252_2_181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2" name="Google Shape;572;g3e33ad06252_2_181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3" name="Google Shape;573;g3e33ad06252_2_181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4" name="Google Shape;574;g3e33ad06252_2_181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5" name="Google Shape;575;g3e33ad06252_2_181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6" name="Google Shape;576;g3e33ad06252_2_181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7" name="Google Shape;577;g3e33ad06252_2_181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8" name="Google Shape;578;g3e33ad06252_2_181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79" name="Google Shape;579;g3e33ad06252_2_181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0" name="Google Shape;580;g3e33ad06252_2_181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1" name="Google Shape;581;g3e33ad06252_2_181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2" name="Google Shape;582;g3e33ad06252_2_181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3" name="Google Shape;583;g3e33ad06252_2_181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4" name="Google Shape;584;g3e33ad06252_2_181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5" name="Google Shape;585;g3e33ad06252_2_181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6" name="Google Shape;586;g3e33ad06252_2_181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7" name="Google Shape;587;g3e33ad06252_2_181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8" name="Google Shape;588;g3e33ad06252_2_181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89" name="Google Shape;589;g3e33ad06252_2_181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590" name="Google Shape;590;g3e33ad06252_2_181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591" name="Google Shape;591;g3e33ad06252_2_181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Back to alignment.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92" name="Google Shape;592;g3e33ad06252_2_181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g3e33ad06252_2_181"/>
          <p:cNvSpPr/>
          <p:nvPr/>
        </p:nvSpPr>
        <p:spPr>
          <a:xfrm>
            <a:off x="844488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BEHAVIORAL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outputs often fail to reflect human intent, ethics, or values.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gaps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Superficial compliance, hidden divergence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Bias &amp; fairness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Amplified social or dataset distortions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Security &amp; misuse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Exploitation for manipulation or harm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4" name="Google Shape;594;g3e33ad06252_2_181"/>
          <p:cNvSpPr/>
          <p:nvPr/>
        </p:nvSpPr>
        <p:spPr>
          <a:xfrm>
            <a:off x="2705588" y="1725781"/>
            <a:ext cx="16110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ONTOLOGICAL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internal representations lack truth and coherence.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Hallucination: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Plausible but false information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Shallow reasoning: 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Correlation without causation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Opacity: 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Uninterpretable internal logic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5" name="Google Shape;595;g3e33ad06252_2_181"/>
          <p:cNvSpPr/>
          <p:nvPr/>
        </p:nvSpPr>
        <p:spPr>
          <a:xfrm>
            <a:off x="4559163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CONTEXTUAL ALIGNMENT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 lack stability and continuity across time and interaction.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fragility:  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Degrades with long or shifting prompts</a:t>
            </a:r>
            <a:b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Prompt sensitivity: </a:t>
            </a: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Small wording changes cause large shifts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6" name="Google Shape;596;g3e33ad06252_2_181"/>
          <p:cNvSpPr/>
          <p:nvPr/>
        </p:nvSpPr>
        <p:spPr>
          <a:xfrm>
            <a:off x="6412738" y="1725781"/>
            <a:ext cx="1559400" cy="25110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PURPOSE ALIGNMENT</a:t>
            </a:r>
            <a:endParaRPr b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Models’ outputs often fail to reflect human intent, ethics, or values.</a:t>
            </a:r>
            <a:endParaRPr b="1" i="1"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gaps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Superficial compliance, hidden divergence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Bias &amp; fairness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Amplified social or dataset distortions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Security &amp; misuse</a:t>
            </a:r>
            <a:r>
              <a:rPr lang="en-US" sz="800">
                <a:solidFill>
                  <a:srgbClr val="99999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: Exploitation for manipulation or harm</a:t>
            </a:r>
            <a:endParaRPr sz="8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99999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97" name="Google Shape;597;g3e33ad06252_2_181"/>
          <p:cNvSpPr txBox="1"/>
          <p:nvPr/>
        </p:nvSpPr>
        <p:spPr>
          <a:xfrm>
            <a:off x="1962791" y="4356500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Alignment is a vast and fuzzy problem. 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g3e33ad06252_2_251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04" name="Google Shape;604;g3e33ad06252_2_251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5" name="Google Shape;605;g3e33ad06252_2_251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6" name="Google Shape;606;g3e33ad06252_2_251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7" name="Google Shape;607;g3e33ad06252_2_251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8" name="Google Shape;608;g3e33ad06252_2_251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09" name="Google Shape;609;g3e33ad06252_2_251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0" name="Google Shape;610;g3e33ad06252_2_251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1" name="Google Shape;611;g3e33ad06252_2_251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2" name="Google Shape;612;g3e33ad06252_2_251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3" name="Google Shape;613;g3e33ad06252_2_251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4" name="Google Shape;614;g3e33ad06252_2_251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5" name="Google Shape;615;g3e33ad06252_2_251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6" name="Google Shape;616;g3e33ad06252_2_251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7" name="Google Shape;617;g3e33ad06252_2_251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8" name="Google Shape;618;g3e33ad06252_2_251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19" name="Google Shape;619;g3e33ad06252_2_251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0" name="Google Shape;620;g3e33ad06252_2_251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1" name="Google Shape;621;g3e33ad06252_2_251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2" name="Google Shape;622;g3e33ad06252_2_251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3" name="Google Shape;623;g3e33ad06252_2_251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24" name="Google Shape;624;g3e33ad06252_2_251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25" name="Google Shape;625;g3e33ad06252_2_251"/>
          <p:cNvSpPr txBox="1"/>
          <p:nvPr/>
        </p:nvSpPr>
        <p:spPr>
          <a:xfrm>
            <a:off x="1779201" y="1025475"/>
            <a:ext cx="561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But, </a:t>
            </a: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Alignment</a:t>
            </a: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can be specified.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26" name="Google Shape;626;g3e33ad06252_2_251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NARROW &amp; </a:t>
            </a: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CIRCLED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g3e33ad06252_2_251"/>
          <p:cNvSpPr txBox="1"/>
          <p:nvPr/>
        </p:nvSpPr>
        <p:spPr>
          <a:xfrm>
            <a:off x="1324810" y="1415880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28" name="Google Shape;628;g3e33ad06252_2_251"/>
          <p:cNvSpPr txBox="1"/>
          <p:nvPr/>
        </p:nvSpPr>
        <p:spPr>
          <a:xfrm>
            <a:off x="1142450" y="2095550"/>
            <a:ext cx="435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We know from 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theory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 that “alignment” is a structural relationship. That something needs to be aligned with something.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We call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the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 Local 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Alignment</a:t>
            </a:r>
            <a:r>
              <a:rPr b="1" lang="en-US">
                <a:latin typeface="Source Serif 4"/>
                <a:ea typeface="Source Serif 4"/>
                <a:cs typeface="Source Serif 4"/>
                <a:sym typeface="Source Serif 4"/>
              </a:rPr>
              <a:t>.</a:t>
            </a: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Today, we show that once a truth is specified, it can be enforced behaviourally to a LLM 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through</a:t>
            </a:r>
            <a:r>
              <a:rPr lang="en-US">
                <a:latin typeface="Source Serif 4"/>
                <a:ea typeface="Source Serif 4"/>
                <a:cs typeface="Source Serif 4"/>
                <a:sym typeface="Source Serif 4"/>
              </a:rPr>
              <a:t> a correction substrate. We instantiate this using the IBF instatiotion.  </a:t>
            </a:r>
            <a:endParaRPr i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33ad06252_2_320"/>
          <p:cNvSpPr txBox="1"/>
          <p:nvPr/>
        </p:nvSpPr>
        <p:spPr>
          <a:xfrm>
            <a:off x="1488500" y="2776978"/>
            <a:ext cx="622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D21117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correction field as bounded truth maintenance system </a:t>
            </a:r>
            <a:r>
              <a:rPr i="1" lang="en-US" sz="2400">
                <a:solidFill>
                  <a:srgbClr val="D21117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>
              <a:solidFill>
                <a:srgbClr val="D2111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635" name="Google Shape;635;g3e33ad06252_2_320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36" name="Google Shape;636;g3e33ad06252_2_320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7" name="Google Shape;637;g3e33ad06252_2_320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8" name="Google Shape;638;g3e33ad06252_2_320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39" name="Google Shape;639;g3e33ad06252_2_320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0" name="Google Shape;640;g3e33ad06252_2_320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1" name="Google Shape;641;g3e33ad06252_2_320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2" name="Google Shape;642;g3e33ad06252_2_320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3" name="Google Shape;643;g3e33ad06252_2_320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4" name="Google Shape;644;g3e33ad06252_2_320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5" name="Google Shape;645;g3e33ad06252_2_320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6" name="Google Shape;646;g3e33ad06252_2_320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7" name="Google Shape;647;g3e33ad06252_2_320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8" name="Google Shape;648;g3e33ad06252_2_320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49" name="Google Shape;649;g3e33ad06252_2_320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0" name="Google Shape;650;g3e33ad06252_2_320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1" name="Google Shape;651;g3e33ad06252_2_320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2" name="Google Shape;652;g3e33ad06252_2_320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3" name="Google Shape;653;g3e33ad06252_2_320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4" name="Google Shape;654;g3e33ad06252_2_320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5" name="Google Shape;655;g3e33ad06252_2_320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56" name="Google Shape;656;g3e33ad06252_2_320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57" name="Google Shape;657;g3e33ad06252_2_320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4th IBF seminar 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58" name="Google Shape;658;g3e33ad06252_2_320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g3e33ad06252_2_320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60" name="Google Shape;660;g3e33ad06252_2_320"/>
          <p:cNvSpPr txBox="1"/>
          <p:nvPr/>
        </p:nvSpPr>
        <p:spPr>
          <a:xfrm>
            <a:off x="556200" y="1955675"/>
            <a:ext cx="803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i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FROZEN LANGUAGE MODELS</a:t>
            </a:r>
            <a:br>
              <a:rPr b="1" lang="en-US" sz="3000">
                <a:solidFill>
                  <a:srgbClr val="D21117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2400">
              <a:solidFill>
                <a:srgbClr val="D21117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1" name="Google Shape;661;g3e33ad06252_2_320"/>
          <p:cNvSpPr txBox="1"/>
          <p:nvPr/>
        </p:nvSpPr>
        <p:spPr>
          <a:xfrm>
            <a:off x="1144857" y="4375825"/>
            <a:ext cx="7290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IBF Engine 4th validation </a:t>
            </a: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domain: correction layer over a (frozen) LLM</a:t>
            </a:r>
            <a:endParaRPr sz="10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IBF as a local durable alignment substrate over a frozen LLM </a:t>
            </a:r>
            <a:endParaRPr sz="10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g3e33ad06252_2_453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668" name="Google Shape;668;g3e33ad06252_2_453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69" name="Google Shape;669;g3e33ad06252_2_453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0" name="Google Shape;670;g3e33ad06252_2_453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1" name="Google Shape;671;g3e33ad06252_2_453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2" name="Google Shape;672;g3e33ad06252_2_453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3" name="Google Shape;673;g3e33ad06252_2_453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4" name="Google Shape;674;g3e33ad06252_2_453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5" name="Google Shape;675;g3e33ad06252_2_453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6" name="Google Shape;676;g3e33ad06252_2_453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7" name="Google Shape;677;g3e33ad06252_2_453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8" name="Google Shape;678;g3e33ad06252_2_453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79" name="Google Shape;679;g3e33ad06252_2_453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0" name="Google Shape;680;g3e33ad06252_2_453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1" name="Google Shape;681;g3e33ad06252_2_453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2" name="Google Shape;682;g3e33ad06252_2_453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3" name="Google Shape;683;g3e33ad06252_2_453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4" name="Google Shape;684;g3e33ad06252_2_453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5" name="Google Shape;685;g3e33ad06252_2_453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6" name="Google Shape;686;g3e33ad06252_2_453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7" name="Google Shape;687;g3e33ad06252_2_453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688" name="Google Shape;688;g3e33ad06252_2_453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689" name="Google Shape;689;g3e33ad06252_2_453"/>
          <p:cNvSpPr txBox="1"/>
          <p:nvPr/>
        </p:nvSpPr>
        <p:spPr>
          <a:xfrm>
            <a:off x="2125266" y="1025475"/>
            <a:ext cx="526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PROBLEM WITH LLMs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90" name="Google Shape;690;g3e33ad06252_2_453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where do we start?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g3e33ad06252_2_453"/>
          <p:cNvSpPr txBox="1"/>
          <p:nvPr/>
        </p:nvSpPr>
        <p:spPr>
          <a:xfrm>
            <a:off x="1488497" y="1469805"/>
            <a:ext cx="69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92" name="Google Shape;692;g3e33ad06252_2_453"/>
          <p:cNvSpPr txBox="1"/>
          <p:nvPr/>
        </p:nvSpPr>
        <p:spPr>
          <a:xfrm>
            <a:off x="1142450" y="2095550"/>
            <a:ext cx="74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Source Serif 4"/>
                <a:ea typeface="Source Serif 4"/>
                <a:cs typeface="Source Serif 4"/>
                <a:sym typeface="Source Serif 4"/>
              </a:rPr>
              <a:t>Most of time, a confident answer is not enough.</a:t>
            </a:r>
            <a:br>
              <a:rPr lang="en-US"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 sz="2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answer has to hold </a:t>
            </a:r>
            <a:r>
              <a:rPr i="1" lang="en-US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aka aligned with specified truth.</a:t>
            </a:r>
            <a:r>
              <a:rPr i="1" lang="en-US"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i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693" name="Google Shape;693;g3e33ad06252_2_453"/>
          <p:cNvSpPr txBox="1"/>
          <p:nvPr/>
        </p:nvSpPr>
        <p:spPr>
          <a:xfrm>
            <a:off x="4652041" y="3011569"/>
            <a:ext cx="30000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ESPECIALLY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IN:</a:t>
            </a: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financial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medical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military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organizational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etc</a:t>
            </a:r>
            <a:endParaRPr i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4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00" name="Google Shape;700;p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1" name="Google Shape;701;p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2" name="Google Shape;702;p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3" name="Google Shape;703;p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4" name="Google Shape;704;p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5" name="Google Shape;705;p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6" name="Google Shape;706;p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7" name="Google Shape;707;p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8" name="Google Shape;708;p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09" name="Google Shape;709;p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0" name="Google Shape;710;p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1" name="Google Shape;711;p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2" name="Google Shape;712;p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3" name="Google Shape;713;p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4" name="Google Shape;714;p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5" name="Google Shape;715;p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6" name="Google Shape;716;p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7" name="Google Shape;717;p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8" name="Google Shape;718;p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19" name="Google Shape;719;p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20" name="Google Shape;720;p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21" name="Google Shape;721;p4"/>
          <p:cNvSpPr txBox="1"/>
          <p:nvPr/>
        </p:nvSpPr>
        <p:spPr>
          <a:xfrm>
            <a:off x="1181094" y="1103925"/>
            <a:ext cx="691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Montserrat Black"/>
                <a:ea typeface="Montserrat Black"/>
                <a:cs typeface="Montserrat Black"/>
                <a:sym typeface="Montserrat Black"/>
              </a:rPr>
              <a:t>WHAT “HOLD” MEANS IN DEPLOYMENT</a:t>
            </a:r>
            <a:endParaRPr sz="24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22" name="Google Shape;722;p4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THE PROBLEM WITH LLMs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4"/>
          <p:cNvSpPr txBox="1"/>
          <p:nvPr>
            <p:ph idx="1" type="body"/>
          </p:nvPr>
        </p:nvSpPr>
        <p:spPr>
          <a:xfrm>
            <a:off x="926322" y="2200488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 hospital </a:t>
            </a:r>
            <a:r>
              <a:rPr b="1" lang="en-US" sz="1200">
                <a:latin typeface="Source Serif 4"/>
                <a:ea typeface="Source Serif 4"/>
                <a:cs typeface="Source Serif 4"/>
                <a:sym typeface="Source Serif 4"/>
              </a:rPr>
              <a:t>updates its triage protocol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 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LLM still cites the old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one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 brokerage </a:t>
            </a:r>
            <a:r>
              <a:rPr b="1" lang="en-US" sz="1200">
                <a:latin typeface="Source Serif 4"/>
                <a:ea typeface="Source Serif 4"/>
                <a:cs typeface="Source Serif 4"/>
                <a:sym typeface="Source Serif 4"/>
              </a:rPr>
              <a:t>rewrites onboarding rules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model contradicts them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An internal tool’s org chart changes every month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--</a:t>
            </a:r>
            <a:r>
              <a:rPr lang="en-US" sz="1200">
                <a:latin typeface="Source Serif 4"/>
                <a:ea typeface="Source Serif 4"/>
                <a:cs typeface="Source Serif 4"/>
                <a:sym typeface="Source Serif 4"/>
              </a:rPr>
              <a:t> the model is always one version behind.</a:t>
            </a:r>
            <a:endParaRPr sz="12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g3e33ad06252_2_285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30" name="Google Shape;730;g3e33ad06252_2_285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1" name="Google Shape;731;g3e33ad06252_2_285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2" name="Google Shape;732;g3e33ad06252_2_285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3" name="Google Shape;733;g3e33ad06252_2_285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4" name="Google Shape;734;g3e33ad06252_2_285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5" name="Google Shape;735;g3e33ad06252_2_285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6" name="Google Shape;736;g3e33ad06252_2_285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7" name="Google Shape;737;g3e33ad06252_2_285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8" name="Google Shape;738;g3e33ad06252_2_285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39" name="Google Shape;739;g3e33ad06252_2_285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0" name="Google Shape;740;g3e33ad06252_2_285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1" name="Google Shape;741;g3e33ad06252_2_285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2" name="Google Shape;742;g3e33ad06252_2_285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3" name="Google Shape;743;g3e33ad06252_2_285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4" name="Google Shape;744;g3e33ad06252_2_285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5" name="Google Shape;745;g3e33ad06252_2_285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6" name="Google Shape;746;g3e33ad06252_2_285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7" name="Google Shape;747;g3e33ad06252_2_285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8" name="Google Shape;748;g3e33ad06252_2_285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49" name="Google Shape;749;g3e33ad06252_2_285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50" name="Google Shape;750;g3e33ad06252_2_285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51" name="Google Shape;751;g3e33ad06252_2_285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52" name="Google Shape;752;g3e33ad06252_2_285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753" name="Google Shape;753;g3e33ad06252_2_285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4" name="Google Shape;754;g3e33ad06252_2_285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5" name="Google Shape;755;g3e33ad06252_2_285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</a:t>
              </a: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architecture:</a:t>
              </a: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6" name="Google Shape;756;g3e33ad06252_2_285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7" name="Google Shape;757;g3e33ad06252_2_285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58" name="Google Shape;758;g3e33ad06252_2_285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59" name="Google Shape;759;g3e33ad06252_2_285"/>
          <p:cNvSpPr txBox="1"/>
          <p:nvPr/>
        </p:nvSpPr>
        <p:spPr>
          <a:xfrm>
            <a:off x="1092897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Introduction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760" name="Google Shape;760;g3e33ad06252_2_285"/>
          <p:cNvSpPr/>
          <p:nvPr/>
        </p:nvSpPr>
        <p:spPr>
          <a:xfrm>
            <a:off x="1727969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g3e33ad06252_2_285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g3e33ad06252_2_285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g3e33ad06252_2_285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e33ad06252_2_285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e33ad06252_2_285"/>
          <p:cNvSpPr txBox="1"/>
          <p:nvPr/>
        </p:nvSpPr>
        <p:spPr>
          <a:xfrm>
            <a:off x="1123610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what does it mean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have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and why they don’t.</a:t>
            </a: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g3e33ad06252_2_382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772" name="Google Shape;772;g3e33ad06252_2_382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3" name="Google Shape;773;g3e33ad06252_2_382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4" name="Google Shape;774;g3e33ad06252_2_382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5" name="Google Shape;775;g3e33ad06252_2_382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6" name="Google Shape;776;g3e33ad06252_2_382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7" name="Google Shape;777;g3e33ad06252_2_382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8" name="Google Shape;778;g3e33ad06252_2_382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79" name="Google Shape;779;g3e33ad06252_2_382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0" name="Google Shape;780;g3e33ad06252_2_382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1" name="Google Shape;781;g3e33ad06252_2_382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2" name="Google Shape;782;g3e33ad06252_2_382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3" name="Google Shape;783;g3e33ad06252_2_382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4" name="Google Shape;784;g3e33ad06252_2_382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5" name="Google Shape;785;g3e33ad06252_2_382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6" name="Google Shape;786;g3e33ad06252_2_382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7" name="Google Shape;787;g3e33ad06252_2_382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8" name="Google Shape;788;g3e33ad06252_2_382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89" name="Google Shape;789;g3e33ad06252_2_382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0" name="Google Shape;790;g3e33ad06252_2_382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1" name="Google Shape;791;g3e33ad06252_2_382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792" name="Google Shape;792;g3e33ad06252_2_382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793" name="Google Shape;793;g3e33ad06252_2_382"/>
          <p:cNvSpPr txBox="1"/>
          <p:nvPr/>
        </p:nvSpPr>
        <p:spPr>
          <a:xfrm>
            <a:off x="1109922" y="2017650"/>
            <a:ext cx="621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property: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g3e33ad06252_2_424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00" name="Google Shape;800;g3e33ad06252_2_424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1" name="Google Shape;801;g3e33ad06252_2_424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2" name="Google Shape;802;g3e33ad06252_2_424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3" name="Google Shape;803;g3e33ad06252_2_424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4" name="Google Shape;804;g3e33ad06252_2_424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5" name="Google Shape;805;g3e33ad06252_2_424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6" name="Google Shape;806;g3e33ad06252_2_424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7" name="Google Shape;807;g3e33ad06252_2_424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8" name="Google Shape;808;g3e33ad06252_2_424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09" name="Google Shape;809;g3e33ad06252_2_424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0" name="Google Shape;810;g3e33ad06252_2_424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1" name="Google Shape;811;g3e33ad06252_2_424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2" name="Google Shape;812;g3e33ad06252_2_424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3" name="Google Shape;813;g3e33ad06252_2_424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4" name="Google Shape;814;g3e33ad06252_2_424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5" name="Google Shape;815;g3e33ad06252_2_424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6" name="Google Shape;816;g3e33ad06252_2_424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7" name="Google Shape;817;g3e33ad06252_2_424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8" name="Google Shape;818;g3e33ad06252_2_424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19" name="Google Shape;819;g3e33ad06252_2_424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20" name="Google Shape;820;g3e33ad06252_2_424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21" name="Google Shape;821;g3e33ad06252_2_424"/>
          <p:cNvSpPr txBox="1"/>
          <p:nvPr/>
        </p:nvSpPr>
        <p:spPr>
          <a:xfrm>
            <a:off x="1934950" y="1025475"/>
            <a:ext cx="54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defining: DURABLE ALIGNMENT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22" name="Google Shape;822;g3e33ad06252_2_424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g3e33ad06252_2_424"/>
          <p:cNvSpPr txBox="1"/>
          <p:nvPr/>
        </p:nvSpPr>
        <p:spPr>
          <a:xfrm>
            <a:off x="926550" y="2154053"/>
            <a:ext cx="7290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system is aligned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the system’s behavior stays in sync with an external set of structural constraints;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IBF term for </a:t>
            </a:r>
            <a:r>
              <a:rPr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fit is Coherence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/ Axiom 2;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Durable alignmen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 = this fit continues under changes, contradictions, and updates to the system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beneath;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ot implicit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alignment with values;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nor specification of what the policy to align to should be.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g3e33ad06252_2_492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30" name="Google Shape;830;g3e33ad06252_2_492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1" name="Google Shape;831;g3e33ad06252_2_492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2" name="Google Shape;832;g3e33ad06252_2_492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3" name="Google Shape;833;g3e33ad06252_2_492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4" name="Google Shape;834;g3e33ad06252_2_492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5" name="Google Shape;835;g3e33ad06252_2_492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6" name="Google Shape;836;g3e33ad06252_2_492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7" name="Google Shape;837;g3e33ad06252_2_492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8" name="Google Shape;838;g3e33ad06252_2_492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39" name="Google Shape;839;g3e33ad06252_2_492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0" name="Google Shape;840;g3e33ad06252_2_492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1" name="Google Shape;841;g3e33ad06252_2_492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2" name="Google Shape;842;g3e33ad06252_2_492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3" name="Google Shape;843;g3e33ad06252_2_492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4" name="Google Shape;844;g3e33ad06252_2_492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5" name="Google Shape;845;g3e33ad06252_2_492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6" name="Google Shape;846;g3e33ad06252_2_492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7" name="Google Shape;847;g3e33ad06252_2_492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8" name="Google Shape;848;g3e33ad06252_2_492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49" name="Google Shape;849;g3e33ad06252_2_492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50" name="Google Shape;850;g3e33ad06252_2_492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51" name="Google Shape;851;g3e33ad06252_2_492"/>
          <p:cNvSpPr txBox="1"/>
          <p:nvPr/>
        </p:nvSpPr>
        <p:spPr>
          <a:xfrm>
            <a:off x="1934950" y="1025475"/>
            <a:ext cx="545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defining: LOCAL TRUTHS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52" name="Google Shape;852;g3e33ad06252_2_492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g3e33ad06252_2_492"/>
          <p:cNvSpPr txBox="1"/>
          <p:nvPr/>
        </p:nvSpPr>
        <p:spPr>
          <a:xfrm>
            <a:off x="926550" y="2154053"/>
            <a:ext cx="7290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truth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= facts that are true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within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 specific operational context;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Have fast 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evolution rate. Facts change in matter of days and weeks, not months, or years.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Examples: org charts, KPIs, role assignments, policy clauses, etc. 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/// d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istinct from global facts (physical constants, etc.) -- those aren’t the target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9" name="Google Shape;859;g3e33ad06252_2_556"/>
          <p:cNvGrpSpPr/>
          <p:nvPr/>
        </p:nvGrpSpPr>
        <p:grpSpPr>
          <a:xfrm>
            <a:off x="4496502" y="225025"/>
            <a:ext cx="333897" cy="338824"/>
            <a:chOff x="4405049" y="356825"/>
            <a:chExt cx="333897" cy="338824"/>
          </a:xfrm>
        </p:grpSpPr>
        <p:sp>
          <p:nvSpPr>
            <p:cNvPr id="860" name="Google Shape;860;g3e33ad06252_2_55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1" name="Google Shape;861;g3e33ad06252_2_55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2" name="Google Shape;862;g3e33ad06252_2_55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3" name="Google Shape;863;g3e33ad06252_2_55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4" name="Google Shape;864;g3e33ad06252_2_55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5" name="Google Shape;865;g3e33ad06252_2_55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6" name="Google Shape;866;g3e33ad06252_2_55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7" name="Google Shape;867;g3e33ad06252_2_55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8" name="Google Shape;868;g3e33ad06252_2_55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69" name="Google Shape;869;g3e33ad06252_2_55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0" name="Google Shape;870;g3e33ad06252_2_55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1" name="Google Shape;871;g3e33ad06252_2_55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2" name="Google Shape;872;g3e33ad06252_2_55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3" name="Google Shape;873;g3e33ad06252_2_55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4" name="Google Shape;874;g3e33ad06252_2_55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5" name="Google Shape;875;g3e33ad06252_2_55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6" name="Google Shape;876;g3e33ad06252_2_55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7" name="Google Shape;877;g3e33ad06252_2_55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8" name="Google Shape;878;g3e33ad06252_2_55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79" name="Google Shape;879;g3e33ad06252_2_55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880" name="Google Shape;880;g3e33ad06252_2_55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881" name="Google Shape;881;g3e33ad06252_2_556"/>
          <p:cNvSpPr txBox="1"/>
          <p:nvPr/>
        </p:nvSpPr>
        <p:spPr>
          <a:xfrm>
            <a:off x="1934950" y="1025475"/>
            <a:ext cx="545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 HOLD is a lifecycle, </a:t>
            </a:r>
            <a:b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</a:br>
            <a:r>
              <a:rPr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not an event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82" name="Google Shape;882;g3e33ad06252_2_556"/>
          <p:cNvSpPr txBox="1"/>
          <p:nvPr/>
        </p:nvSpPr>
        <p:spPr>
          <a:xfrm>
            <a:off x="3163450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LOCAL DURABLE ALIGNMENT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g3e33ad06252_2_556"/>
          <p:cNvSpPr txBox="1"/>
          <p:nvPr/>
        </p:nvSpPr>
        <p:spPr>
          <a:xfrm>
            <a:off x="926550" y="2154053"/>
            <a:ext cx="72909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Install → revise → remove → restore → retain;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One update is easy; the sequence is the hard part;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Existing literature mostly benchmarks single edits;</a:t>
            </a: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 </a:t>
            </a:r>
            <a:endParaRPr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Real deployments need the full lifecycle on a single substrate.</a:t>
            </a:r>
            <a:endParaRPr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10"/>
          <p:cNvGrpSpPr/>
          <p:nvPr/>
        </p:nvGrpSpPr>
        <p:grpSpPr>
          <a:xfrm>
            <a:off x="4405056" y="224876"/>
            <a:ext cx="333889" cy="339127"/>
            <a:chOff x="4405056" y="224876"/>
            <a:chExt cx="333889" cy="339127"/>
          </a:xfrm>
        </p:grpSpPr>
        <p:sp>
          <p:nvSpPr>
            <p:cNvPr id="890" name="Google Shape;890;p10"/>
            <p:cNvSpPr/>
            <p:nvPr/>
          </p:nvSpPr>
          <p:spPr>
            <a:xfrm rot="8100000">
              <a:off x="4441339" y="36000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0"/>
            <p:cNvSpPr/>
            <p:nvPr/>
          </p:nvSpPr>
          <p:spPr>
            <a:xfrm rot="2700000">
              <a:off x="4441347" y="415062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0"/>
            <p:cNvSpPr/>
            <p:nvPr/>
          </p:nvSpPr>
          <p:spPr>
            <a:xfrm rot="-8100000">
              <a:off x="4642260" y="358045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0"/>
            <p:cNvSpPr/>
            <p:nvPr/>
          </p:nvSpPr>
          <p:spPr>
            <a:xfrm rot="-2700000">
              <a:off x="4642255" y="41311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0"/>
            <p:cNvSpPr/>
            <p:nvPr/>
          </p:nvSpPr>
          <p:spPr>
            <a:xfrm rot="2700000">
              <a:off x="4511984" y="48636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0"/>
            <p:cNvSpPr/>
            <p:nvPr/>
          </p:nvSpPr>
          <p:spPr>
            <a:xfrm rot="-2700000">
              <a:off x="4567049" y="48636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0"/>
            <p:cNvSpPr/>
            <p:nvPr/>
          </p:nvSpPr>
          <p:spPr>
            <a:xfrm rot="-8100000">
              <a:off x="4569775" y="286487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0"/>
            <p:cNvSpPr/>
            <p:nvPr/>
          </p:nvSpPr>
          <p:spPr>
            <a:xfrm rot="8100000">
              <a:off x="4514710" y="28649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0"/>
            <p:cNvSpPr/>
            <p:nvPr/>
          </p:nvSpPr>
          <p:spPr>
            <a:xfrm rot="-2700000">
              <a:off x="4592404" y="286751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0"/>
            <p:cNvSpPr/>
            <p:nvPr/>
          </p:nvSpPr>
          <p:spPr>
            <a:xfrm rot="-2700000">
              <a:off x="4389798" y="488792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0"/>
            <p:cNvSpPr/>
            <p:nvPr/>
          </p:nvSpPr>
          <p:spPr>
            <a:xfrm rot="2700000">
              <a:off x="4392147" y="285249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0"/>
            <p:cNvSpPr/>
            <p:nvPr/>
          </p:nvSpPr>
          <p:spPr>
            <a:xfrm rot="2700000">
              <a:off x="4594754" y="487280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0"/>
            <p:cNvSpPr/>
            <p:nvPr/>
          </p:nvSpPr>
          <p:spPr>
            <a:xfrm>
              <a:off x="4405056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0"/>
            <p:cNvSpPr/>
            <p:nvPr/>
          </p:nvSpPr>
          <p:spPr>
            <a:xfrm>
              <a:off x="453150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0"/>
            <p:cNvSpPr/>
            <p:nvPr/>
          </p:nvSpPr>
          <p:spPr>
            <a:xfrm>
              <a:off x="465794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0"/>
            <p:cNvSpPr/>
            <p:nvPr/>
          </p:nvSpPr>
          <p:spPr>
            <a:xfrm>
              <a:off x="4405056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0"/>
            <p:cNvSpPr/>
            <p:nvPr/>
          </p:nvSpPr>
          <p:spPr>
            <a:xfrm>
              <a:off x="453150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0"/>
            <p:cNvSpPr/>
            <p:nvPr/>
          </p:nvSpPr>
          <p:spPr>
            <a:xfrm>
              <a:off x="465794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0"/>
            <p:cNvSpPr/>
            <p:nvPr/>
          </p:nvSpPr>
          <p:spPr>
            <a:xfrm>
              <a:off x="4405056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0"/>
            <p:cNvSpPr/>
            <p:nvPr/>
          </p:nvSpPr>
          <p:spPr>
            <a:xfrm>
              <a:off x="4531500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0"/>
            <p:cNvSpPr/>
            <p:nvPr/>
          </p:nvSpPr>
          <p:spPr>
            <a:xfrm>
              <a:off x="4657945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1" name="Google Shape;911;p10"/>
          <p:cNvGrpSpPr/>
          <p:nvPr/>
        </p:nvGrpSpPr>
        <p:grpSpPr>
          <a:xfrm>
            <a:off x="0" y="762000"/>
            <a:ext cx="9144000" cy="809625"/>
            <a:chOff x="0" y="762000"/>
            <a:chExt cx="9144000" cy="809625"/>
          </a:xfrm>
        </p:grpSpPr>
        <p:sp>
          <p:nvSpPr>
            <p:cNvPr id="912" name="Google Shape;912;p10"/>
            <p:cNvSpPr txBox="1"/>
            <p:nvPr/>
          </p:nvSpPr>
          <p:spPr>
            <a:xfrm>
              <a:off x="0" y="76200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ADAPTING TO DYNAMIC LANDSCAPES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3" name="Google Shape;913;p10"/>
            <p:cNvSpPr txBox="1"/>
            <p:nvPr/>
          </p:nvSpPr>
          <p:spPr>
            <a:xfrm>
              <a:off x="0" y="1000125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353635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WHY NOW?</a:t>
              </a:r>
              <a:endParaRPr b="0" sz="28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sp>
        <p:nvSpPr>
          <p:cNvPr id="914" name="Google Shape;914;p10"/>
          <p:cNvSpPr txBox="1"/>
          <p:nvPr/>
        </p:nvSpPr>
        <p:spPr>
          <a:xfrm>
            <a:off x="952500" y="1714500"/>
            <a:ext cx="7239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Four forces converging: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125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Expansion: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One base model supports many specific operational contexts — sometimes thousands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Economic Barrier: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Pretraining cost makes the base expensive to modify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Governance Needs: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Demands inspectable, auditable, removable constraints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900"/>
              </a:spcBef>
              <a:spcAft>
                <a:spcPts val="9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Architectural Push: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Frontier architectures already push behavior beyond the base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915" name="Google Shape;915;p10"/>
          <p:cNvGrpSpPr/>
          <p:nvPr/>
        </p:nvGrpSpPr>
        <p:grpSpPr>
          <a:xfrm>
            <a:off x="952500" y="4191000"/>
            <a:ext cx="7239000" cy="714375"/>
            <a:chOff x="952500" y="4191000"/>
            <a:chExt cx="7239000" cy="714375"/>
          </a:xfrm>
        </p:grpSpPr>
        <p:sp>
          <p:nvSpPr>
            <p:cNvPr id="916" name="Google Shape;916;p10"/>
            <p:cNvSpPr/>
            <p:nvPr/>
          </p:nvSpPr>
          <p:spPr>
            <a:xfrm>
              <a:off x="952500" y="4191000"/>
              <a:ext cx="7239000" cy="19200"/>
            </a:xfrm>
            <a:prstGeom prst="rect">
              <a:avLst/>
            </a:prstGeom>
            <a:solidFill>
              <a:srgbClr val="D2111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0"/>
            <p:cNvSpPr txBox="1"/>
            <p:nvPr/>
          </p:nvSpPr>
          <p:spPr>
            <a:xfrm>
              <a:off x="952500" y="4333875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missing piece: </a:t>
              </a: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principled substrate for the revisable layer.</a:t>
              </a:r>
              <a:endParaRPr b="1" sz="1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" name="Google Shape;923;p9"/>
          <p:cNvGrpSpPr/>
          <p:nvPr/>
        </p:nvGrpSpPr>
        <p:grpSpPr>
          <a:xfrm>
            <a:off x="0" y="857250"/>
            <a:ext cx="9144000" cy="733425"/>
            <a:chOff x="0" y="857250"/>
            <a:chExt cx="9144000" cy="733425"/>
          </a:xfrm>
        </p:grpSpPr>
        <p:sp>
          <p:nvSpPr>
            <p:cNvPr id="924" name="Google Shape;924;p9"/>
            <p:cNvSpPr txBox="1"/>
            <p:nvPr/>
          </p:nvSpPr>
          <p:spPr>
            <a:xfrm>
              <a:off x="0" y="857250"/>
              <a:ext cx="914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in existing architectures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5" name="Google Shape;925;p9"/>
            <p:cNvSpPr txBox="1"/>
            <p:nvPr/>
          </p:nvSpPr>
          <p:spPr>
            <a:xfrm>
              <a:off x="0" y="1019175"/>
              <a:ext cx="914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53635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EXISTING APPROACHES</a:t>
              </a:r>
              <a:endParaRPr b="0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endParaRPr>
            </a:p>
          </p:txBody>
        </p:sp>
      </p:grpSp>
      <p:grpSp>
        <p:nvGrpSpPr>
          <p:cNvPr id="926" name="Google Shape;926;p9"/>
          <p:cNvGrpSpPr/>
          <p:nvPr/>
        </p:nvGrpSpPr>
        <p:grpSpPr>
          <a:xfrm>
            <a:off x="4405055" y="224876"/>
            <a:ext cx="333889" cy="339128"/>
            <a:chOff x="4405055" y="224876"/>
            <a:chExt cx="333889" cy="339128"/>
          </a:xfrm>
        </p:grpSpPr>
        <p:sp>
          <p:nvSpPr>
            <p:cNvPr id="927" name="Google Shape;927;p9"/>
            <p:cNvSpPr/>
            <p:nvPr/>
          </p:nvSpPr>
          <p:spPr>
            <a:xfrm rot="8100000">
              <a:off x="4441343" y="36000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9"/>
            <p:cNvSpPr/>
            <p:nvPr/>
          </p:nvSpPr>
          <p:spPr>
            <a:xfrm rot="2700000">
              <a:off x="4441349" y="4150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9"/>
            <p:cNvSpPr/>
            <p:nvPr/>
          </p:nvSpPr>
          <p:spPr>
            <a:xfrm rot="-8100000">
              <a:off x="4642262" y="35804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9"/>
            <p:cNvSpPr/>
            <p:nvPr/>
          </p:nvSpPr>
          <p:spPr>
            <a:xfrm rot="-2700000">
              <a:off x="4642254" y="41311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9"/>
            <p:cNvSpPr/>
            <p:nvPr/>
          </p:nvSpPr>
          <p:spPr>
            <a:xfrm rot="2700000">
              <a:off x="4511986" y="48637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9"/>
            <p:cNvSpPr/>
            <p:nvPr/>
          </p:nvSpPr>
          <p:spPr>
            <a:xfrm rot="-2700000">
              <a:off x="4567051" y="48636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9"/>
            <p:cNvSpPr/>
            <p:nvPr/>
          </p:nvSpPr>
          <p:spPr>
            <a:xfrm rot="-8100000">
              <a:off x="4569779" y="28649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9"/>
            <p:cNvSpPr/>
            <p:nvPr/>
          </p:nvSpPr>
          <p:spPr>
            <a:xfrm rot="8100000">
              <a:off x="4514714" y="28649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9"/>
            <p:cNvSpPr/>
            <p:nvPr/>
          </p:nvSpPr>
          <p:spPr>
            <a:xfrm rot="-2700000">
              <a:off x="4592404" y="286746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9"/>
            <p:cNvSpPr/>
            <p:nvPr/>
          </p:nvSpPr>
          <p:spPr>
            <a:xfrm rot="-2700000">
              <a:off x="4389801" y="48878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9"/>
            <p:cNvSpPr/>
            <p:nvPr/>
          </p:nvSpPr>
          <p:spPr>
            <a:xfrm rot="2700000">
              <a:off x="4392145" y="2852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9"/>
            <p:cNvSpPr/>
            <p:nvPr/>
          </p:nvSpPr>
          <p:spPr>
            <a:xfrm rot="2700000">
              <a:off x="4594752" y="48727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440505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453150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465794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440505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453150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465794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4405055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4531500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4657944" y="483003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15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8" name="Google Shape;948;p9"/>
          <p:cNvGrpSpPr/>
          <p:nvPr/>
        </p:nvGrpSpPr>
        <p:grpSpPr>
          <a:xfrm>
            <a:off x="571500" y="1905088"/>
            <a:ext cx="2476500" cy="2095614"/>
            <a:chOff x="571500" y="1905000"/>
            <a:chExt cx="2476500" cy="2476500"/>
          </a:xfrm>
        </p:grpSpPr>
        <p:sp>
          <p:nvSpPr>
            <p:cNvPr id="949" name="Google Shape;949;p9"/>
            <p:cNvSpPr/>
            <p:nvPr/>
          </p:nvSpPr>
          <p:spPr>
            <a:xfrm>
              <a:off x="57150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9"/>
            <p:cNvSpPr txBox="1"/>
            <p:nvPr/>
          </p:nvSpPr>
          <p:spPr>
            <a:xfrm>
              <a:off x="71437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/ LoRA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Bulk behavioral shifts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Constraints fuse into parameters; no rollback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1" name="Google Shape;951;p9"/>
          <p:cNvGrpSpPr/>
          <p:nvPr/>
        </p:nvGrpSpPr>
        <p:grpSpPr>
          <a:xfrm>
            <a:off x="3333750" y="1905088"/>
            <a:ext cx="2476500" cy="2095614"/>
            <a:chOff x="3333750" y="1905000"/>
            <a:chExt cx="2476500" cy="2476500"/>
          </a:xfrm>
        </p:grpSpPr>
        <p:sp>
          <p:nvSpPr>
            <p:cNvPr id="952" name="Google Shape;952;p9"/>
            <p:cNvSpPr/>
            <p:nvPr/>
          </p:nvSpPr>
          <p:spPr>
            <a:xfrm>
              <a:off x="333375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9"/>
            <p:cNvSpPr txBox="1"/>
            <p:nvPr/>
          </p:nvSpPr>
          <p:spPr>
            <a:xfrm>
              <a:off x="347662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Knowledge Editing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Targeted single edits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Lifecycle compounding under revision, retraction, refinement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4" name="Google Shape;954;p9"/>
          <p:cNvGrpSpPr/>
          <p:nvPr/>
        </p:nvGrpSpPr>
        <p:grpSpPr>
          <a:xfrm>
            <a:off x="6096000" y="1905088"/>
            <a:ext cx="2476500" cy="2095614"/>
            <a:chOff x="6096000" y="1905000"/>
            <a:chExt cx="2476500" cy="2476500"/>
          </a:xfrm>
        </p:grpSpPr>
        <p:sp>
          <p:nvSpPr>
            <p:cNvPr id="955" name="Google Shape;955;p9"/>
            <p:cNvSpPr/>
            <p:nvPr/>
          </p:nvSpPr>
          <p:spPr>
            <a:xfrm>
              <a:off x="6096000" y="1905000"/>
              <a:ext cx="24765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9"/>
            <p:cNvSpPr txBox="1"/>
            <p:nvPr/>
          </p:nvSpPr>
          <p:spPr>
            <a:xfrm>
              <a:off x="6238875" y="2047875"/>
              <a:ext cx="2190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Retrieval (RAG, kNN)</a:t>
              </a:r>
              <a:endParaRPr b="1" sz="14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STRENGTH: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Fresh facts at query time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MISSES:</a:t>
              </a:r>
              <a:endParaRPr b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into context</a:t>
              </a:r>
              <a:r>
                <a:rPr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;</a:t>
              </a:r>
              <a:r>
                <a:rPr b="0" i="1" lang="en-US" sz="11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can be ignored, displaced, or absent</a:t>
              </a:r>
              <a:endParaRPr b="0" i="1" sz="11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7" name="Google Shape;957;p9"/>
          <p:cNvGrpSpPr/>
          <p:nvPr/>
        </p:nvGrpSpPr>
        <p:grpSpPr>
          <a:xfrm>
            <a:off x="952500" y="4191000"/>
            <a:ext cx="7239000" cy="714375"/>
            <a:chOff x="952500" y="4191000"/>
            <a:chExt cx="7239000" cy="714375"/>
          </a:xfrm>
        </p:grpSpPr>
        <p:sp>
          <p:nvSpPr>
            <p:cNvPr id="958" name="Google Shape;958;p9"/>
            <p:cNvSpPr/>
            <p:nvPr/>
          </p:nvSpPr>
          <p:spPr>
            <a:xfrm>
              <a:off x="952500" y="4191000"/>
              <a:ext cx="7239000" cy="19200"/>
            </a:xfrm>
            <a:prstGeom prst="rect">
              <a:avLst/>
            </a:prstGeom>
            <a:solidFill>
              <a:srgbClr val="D21117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9"/>
            <p:cNvSpPr txBox="1"/>
            <p:nvPr/>
          </p:nvSpPr>
          <p:spPr>
            <a:xfrm>
              <a:off x="952500" y="4333875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end to end life-cycle coverage.</a:t>
              </a:r>
              <a:endParaRPr b="1" sz="14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33ad06252_2_1451"/>
          <p:cNvSpPr/>
          <p:nvPr/>
        </p:nvSpPr>
        <p:spPr>
          <a:xfrm rot="8100000">
            <a:off x="7535866" y="2489260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5" name="Google Shape;965;g3e33ad06252_2_1451"/>
          <p:cNvSpPr/>
          <p:nvPr/>
        </p:nvSpPr>
        <p:spPr>
          <a:xfrm flipH="1" rot="2700000">
            <a:off x="7535868" y="2621947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6" name="Google Shape;966;g3e33ad06252_2_1451"/>
          <p:cNvSpPr/>
          <p:nvPr/>
        </p:nvSpPr>
        <p:spPr>
          <a:xfrm flipH="1" rot="-8100000">
            <a:off x="8020252" y="2484538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7" name="Google Shape;967;g3e33ad06252_2_1451"/>
          <p:cNvSpPr/>
          <p:nvPr/>
        </p:nvSpPr>
        <p:spPr>
          <a:xfrm rot="-2700000">
            <a:off x="8020250" y="2617224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8" name="Google Shape;968;g3e33ad06252_2_1451"/>
          <p:cNvSpPr/>
          <p:nvPr/>
        </p:nvSpPr>
        <p:spPr>
          <a:xfrm rot="2700000">
            <a:off x="7706187" y="2793886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69" name="Google Shape;969;g3e33ad06252_2_1451"/>
          <p:cNvSpPr/>
          <p:nvPr/>
        </p:nvSpPr>
        <p:spPr>
          <a:xfrm flipH="1" rot="-2700000">
            <a:off x="7838873" y="2793885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0" name="Google Shape;970;g3e33ad06252_2_1451"/>
          <p:cNvSpPr/>
          <p:nvPr/>
        </p:nvSpPr>
        <p:spPr>
          <a:xfrm rot="-8100000">
            <a:off x="7845488" y="2311993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1" name="Google Shape;971;g3e33ad06252_2_1451"/>
          <p:cNvSpPr/>
          <p:nvPr/>
        </p:nvSpPr>
        <p:spPr>
          <a:xfrm flipH="1" rot="8100000">
            <a:off x="7712802" y="2311995"/>
            <a:ext cx="140856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2" name="Google Shape;972;g3e33ad06252_2_1451"/>
          <p:cNvSpPr/>
          <p:nvPr/>
        </p:nvSpPr>
        <p:spPr>
          <a:xfrm rot="-2700000">
            <a:off x="7899393" y="2310933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3" name="Google Shape;973;g3e33ad06252_2_1451"/>
          <p:cNvSpPr/>
          <p:nvPr/>
        </p:nvSpPr>
        <p:spPr>
          <a:xfrm rot="-2700000">
            <a:off x="7409295" y="2799659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4" name="Google Shape;974;g3e33ad06252_2_1451"/>
          <p:cNvSpPr/>
          <p:nvPr/>
        </p:nvSpPr>
        <p:spPr>
          <a:xfrm flipH="1" rot="2700000">
            <a:off x="7415361" y="2307299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5" name="Google Shape;975;g3e33ad06252_2_1451"/>
          <p:cNvSpPr/>
          <p:nvPr/>
        </p:nvSpPr>
        <p:spPr>
          <a:xfrm flipH="1" rot="2700000">
            <a:off x="7905459" y="2796026"/>
            <a:ext cx="384808" cy="41578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 cap="flat" cmpd="sng" w="2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6" name="Google Shape;976;g3e33ad06252_2_1451"/>
          <p:cNvSpPr/>
          <p:nvPr/>
        </p:nvSpPr>
        <p:spPr>
          <a:xfrm>
            <a:off x="7446875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7" name="Google Shape;977;g3e33ad06252_2_1451"/>
          <p:cNvSpPr/>
          <p:nvPr/>
        </p:nvSpPr>
        <p:spPr>
          <a:xfrm>
            <a:off x="7752751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8" name="Google Shape;978;g3e33ad06252_2_1451"/>
          <p:cNvSpPr/>
          <p:nvPr/>
        </p:nvSpPr>
        <p:spPr>
          <a:xfrm>
            <a:off x="8058627" y="2161745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79" name="Google Shape;979;g3e33ad06252_2_1451"/>
          <p:cNvSpPr/>
          <p:nvPr/>
        </p:nvSpPr>
        <p:spPr>
          <a:xfrm>
            <a:off x="7446875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0" name="Google Shape;980;g3e33ad06252_2_1451"/>
          <p:cNvSpPr/>
          <p:nvPr/>
        </p:nvSpPr>
        <p:spPr>
          <a:xfrm>
            <a:off x="7752751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1" name="Google Shape;981;g3e33ad06252_2_1451"/>
          <p:cNvSpPr/>
          <p:nvPr/>
        </p:nvSpPr>
        <p:spPr>
          <a:xfrm>
            <a:off x="8058627" y="2473948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2" name="Google Shape;982;g3e33ad06252_2_1451"/>
          <p:cNvSpPr/>
          <p:nvPr/>
        </p:nvSpPr>
        <p:spPr>
          <a:xfrm>
            <a:off x="7446875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3" name="Google Shape;983;g3e33ad06252_2_1451"/>
          <p:cNvSpPr/>
          <p:nvPr/>
        </p:nvSpPr>
        <p:spPr>
          <a:xfrm>
            <a:off x="7752751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4" name="Google Shape;984;g3e33ad06252_2_1451"/>
          <p:cNvSpPr/>
          <p:nvPr/>
        </p:nvSpPr>
        <p:spPr>
          <a:xfrm>
            <a:off x="8058627" y="2786150"/>
            <a:ext cx="195600" cy="195600"/>
          </a:xfrm>
          <a:prstGeom prst="ellipse">
            <a:avLst/>
          </a:prstGeom>
          <a:solidFill>
            <a:srgbClr val="FFFFFF"/>
          </a:solidFill>
          <a:ln cap="flat" cmpd="sng" w="41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4950" lIns="24950" spcFirstLastPara="1" rIns="24950" wrap="square" tIns="2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2"/>
          </a:p>
        </p:txBody>
      </p:sp>
      <p:sp>
        <p:nvSpPr>
          <p:cNvPr id="985" name="Google Shape;985;g3e33ad06252_2_1451"/>
          <p:cNvSpPr txBox="1"/>
          <p:nvPr/>
        </p:nvSpPr>
        <p:spPr>
          <a:xfrm>
            <a:off x="1197899" y="1444785"/>
            <a:ext cx="38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chemeClr val="accent3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986" name="Google Shape;986;g3e33ad06252_2_1451"/>
          <p:cNvSpPr txBox="1"/>
          <p:nvPr/>
        </p:nvSpPr>
        <p:spPr>
          <a:xfrm>
            <a:off x="1529200" y="1586700"/>
            <a:ext cx="4640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3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rPr>
              <a:t>central</a:t>
            </a:r>
            <a:r>
              <a:rPr lang="en-US" sz="3600">
                <a:solidFill>
                  <a:schemeClr val="accent3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rPr>
              <a:t> claim:</a:t>
            </a:r>
            <a:r>
              <a:rPr b="1" lang="en-US" sz="36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br>
              <a:rPr b="1" lang="en-US" sz="30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br>
              <a:rPr b="1" lang="en-US" sz="3000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</a:br>
            <a:r>
              <a:rPr b="1" lang="en-US">
                <a:solidFill>
                  <a:schemeClr val="accent3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Local durable alignment can be implemented as an orthogonal correction field over a frozen language model: given specified behavioral constraints, the field maintains them as inspectable, revisable, and removable state without modifying the base model’s parameters.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2" name="Google Shape;992;p12"/>
          <p:cNvGrpSpPr/>
          <p:nvPr/>
        </p:nvGrpSpPr>
        <p:grpSpPr>
          <a:xfrm>
            <a:off x="762000" y="571500"/>
            <a:ext cx="5334000" cy="4000500"/>
            <a:chOff x="762000" y="571500"/>
            <a:chExt cx="5334000" cy="4000500"/>
          </a:xfrm>
        </p:grpSpPr>
        <p:sp>
          <p:nvSpPr>
            <p:cNvPr id="993" name="Google Shape;993;p12"/>
            <p:cNvSpPr txBox="1"/>
            <p:nvPr/>
          </p:nvSpPr>
          <p:spPr>
            <a:xfrm>
              <a:off x="762000" y="5715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Three supporting claims</a:t>
              </a:r>
              <a:endParaRPr b="1" sz="320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994" name="Google Shape;994;p12"/>
            <p:cNvSpPr txBox="1"/>
            <p:nvPr/>
          </p:nvSpPr>
          <p:spPr>
            <a:xfrm>
              <a:off x="762000" y="1524000"/>
              <a:ext cx="5334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Substrate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Maintains constraints over time, full lifecycle as one operation type, survives base-model changes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Geometry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Acts where intended — strong-prior override, scale with constraint count, and semantic consequences via compiled closure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870">
                  <a:solidFill>
                    <a:srgbClr val="FFFFFF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Generality</a:t>
              </a:r>
              <a:endParaRPr b="1" sz="1870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-US" sz="1530">
                  <a:solidFill>
                    <a:srgbClr val="FBFAFA"/>
                  </a:solidFill>
                  <a:latin typeface="Source Serif 4 ExtraLight"/>
                  <a:ea typeface="Source Serif 4 ExtraLight"/>
                  <a:cs typeface="Source Serif 4 ExtraLight"/>
                  <a:sym typeface="Source Serif 4 ExtraLight"/>
                </a:rPr>
                <a:t>Replicates across base models; structurally distinct from kNN / RAG</a:t>
              </a:r>
              <a:endParaRPr b="0" i="1" sz="1530">
                <a:solidFill>
                  <a:srgbClr val="FBFAFA"/>
                </a:solidFill>
                <a:latin typeface="Source Serif 4 ExtraLight"/>
                <a:ea typeface="Source Serif 4 ExtraLight"/>
                <a:cs typeface="Source Serif 4 ExtraLight"/>
                <a:sym typeface="Source Serif 4 ExtraLight"/>
              </a:endParaRPr>
            </a:p>
          </p:txBody>
        </p:sp>
      </p:grpSp>
      <p:grpSp>
        <p:nvGrpSpPr>
          <p:cNvPr id="995" name="Google Shape;995;p12"/>
          <p:cNvGrpSpPr/>
          <p:nvPr/>
        </p:nvGrpSpPr>
        <p:grpSpPr>
          <a:xfrm>
            <a:off x="7187565" y="1997393"/>
            <a:ext cx="807705" cy="821040"/>
            <a:chOff x="43815" y="-98107"/>
            <a:chExt cx="807705" cy="821040"/>
          </a:xfrm>
        </p:grpSpPr>
        <p:sp>
          <p:nvSpPr>
            <p:cNvPr id="996" name="Google Shape;996;p12"/>
            <p:cNvSpPr/>
            <p:nvPr/>
          </p:nvSpPr>
          <p:spPr>
            <a:xfrm rot="8100000">
              <a:off x="133565" y="229796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2"/>
            <p:cNvSpPr/>
            <p:nvPr/>
          </p:nvSpPr>
          <p:spPr>
            <a:xfrm rot="2700000">
              <a:off x="133484" y="362911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2"/>
            <p:cNvSpPr/>
            <p:nvPr/>
          </p:nvSpPr>
          <p:spPr>
            <a:xfrm rot="-8100000">
              <a:off x="618153" y="225114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2"/>
            <p:cNvSpPr/>
            <p:nvPr/>
          </p:nvSpPr>
          <p:spPr>
            <a:xfrm rot="-2700000">
              <a:off x="618072" y="358229"/>
              <a:ext cx="140856" cy="41578"/>
            </a:xfrm>
            <a:prstGeom prst="roundRect">
              <a:avLst>
                <a:gd fmla="val 48107" name="adj"/>
              </a:avLst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2"/>
            <p:cNvSpPr/>
            <p:nvPr/>
          </p:nvSpPr>
          <p:spPr>
            <a:xfrm>
              <a:off x="43815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2"/>
            <p:cNvSpPr/>
            <p:nvPr/>
          </p:nvSpPr>
          <p:spPr>
            <a:xfrm>
              <a:off x="349568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2"/>
            <p:cNvSpPr/>
            <p:nvPr/>
          </p:nvSpPr>
          <p:spPr>
            <a:xfrm>
              <a:off x="655320" y="-98107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2"/>
            <p:cNvSpPr/>
            <p:nvPr/>
          </p:nvSpPr>
          <p:spPr>
            <a:xfrm>
              <a:off x="43815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2"/>
            <p:cNvSpPr/>
            <p:nvPr/>
          </p:nvSpPr>
          <p:spPr>
            <a:xfrm>
              <a:off x="349568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2"/>
            <p:cNvSpPr/>
            <p:nvPr/>
          </p:nvSpPr>
          <p:spPr>
            <a:xfrm>
              <a:off x="655320" y="21431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2"/>
            <p:cNvSpPr/>
            <p:nvPr/>
          </p:nvSpPr>
          <p:spPr>
            <a:xfrm>
              <a:off x="43815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2"/>
            <p:cNvSpPr/>
            <p:nvPr/>
          </p:nvSpPr>
          <p:spPr>
            <a:xfrm>
              <a:off x="349568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2"/>
            <p:cNvSpPr/>
            <p:nvPr/>
          </p:nvSpPr>
          <p:spPr>
            <a:xfrm>
              <a:off x="655320" y="526733"/>
              <a:ext cx="196200" cy="1962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  <a:ln cap="flat" cmpd="sng" w="409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4" name="Google Shape;1014;g3e33ad06252_2_3040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015" name="Google Shape;1015;g3e33ad06252_2_3040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6" name="Google Shape;1016;g3e33ad06252_2_3040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7" name="Google Shape;1017;g3e33ad06252_2_3040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8" name="Google Shape;1018;g3e33ad06252_2_3040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19" name="Google Shape;1019;g3e33ad06252_2_3040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0" name="Google Shape;1020;g3e33ad06252_2_3040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1" name="Google Shape;1021;g3e33ad06252_2_3040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2" name="Google Shape;1022;g3e33ad06252_2_3040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3" name="Google Shape;1023;g3e33ad06252_2_3040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4" name="Google Shape;1024;g3e33ad06252_2_3040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5" name="Google Shape;1025;g3e33ad06252_2_3040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6" name="Google Shape;1026;g3e33ad06252_2_3040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7" name="Google Shape;1027;g3e33ad06252_2_3040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8" name="Google Shape;1028;g3e33ad06252_2_3040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29" name="Google Shape;1029;g3e33ad06252_2_3040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0" name="Google Shape;1030;g3e33ad06252_2_3040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1" name="Google Shape;1031;g3e33ad06252_2_3040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2" name="Google Shape;1032;g3e33ad06252_2_3040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3" name="Google Shape;1033;g3e33ad06252_2_3040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4" name="Google Shape;1034;g3e33ad06252_2_3040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35" name="Google Shape;1035;g3e33ad06252_2_3040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036" name="Google Shape;1036;g3e33ad06252_2_3040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37" name="Google Shape;1037;g3e33ad06252_2_3040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038" name="Google Shape;1038;g3e33ad06252_2_3040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9" name="Google Shape;1039;g3e33ad06252_2_3040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0" name="Google Shape;1040;g3e33ad06252_2_3040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35363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35363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1" name="Google Shape;1041;g3e33ad06252_2_3040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2" name="Google Shape;1042;g3e33ad06252_2_3040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3" name="Google Shape;1043;g3e33ad06252_2_3040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044" name="Google Shape;1044;g3e33ad06252_2_3040"/>
          <p:cNvSpPr txBox="1"/>
          <p:nvPr/>
        </p:nvSpPr>
        <p:spPr>
          <a:xfrm>
            <a:off x="3056214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045" name="Google Shape;1045;g3e33ad06252_2_3040"/>
          <p:cNvSpPr/>
          <p:nvPr/>
        </p:nvSpPr>
        <p:spPr>
          <a:xfrm>
            <a:off x="3691286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3e33ad06252_2_3040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e33ad06252_2_3040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g3e33ad06252_2_3040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e33ad06252_2_3040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g3e33ad06252_2_3040"/>
          <p:cNvSpPr txBox="1"/>
          <p:nvPr/>
        </p:nvSpPr>
        <p:spPr>
          <a:xfrm>
            <a:off x="3086927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</a:t>
            </a: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g3e33ad06252_2_6217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057" name="Google Shape;1057;g3e33ad06252_2_6217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58" name="Google Shape;1058;g3e33ad06252_2_6217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59" name="Google Shape;1059;g3e33ad06252_2_6217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0" name="Google Shape;1060;g3e33ad06252_2_6217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1" name="Google Shape;1061;g3e33ad06252_2_6217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2" name="Google Shape;1062;g3e33ad06252_2_6217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3" name="Google Shape;1063;g3e33ad06252_2_6217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4" name="Google Shape;1064;g3e33ad06252_2_6217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5" name="Google Shape;1065;g3e33ad06252_2_6217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6" name="Google Shape;1066;g3e33ad06252_2_6217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7" name="Google Shape;1067;g3e33ad06252_2_6217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8" name="Google Shape;1068;g3e33ad06252_2_6217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69" name="Google Shape;1069;g3e33ad06252_2_6217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0" name="Google Shape;1070;g3e33ad06252_2_6217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1" name="Google Shape;1071;g3e33ad06252_2_6217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2" name="Google Shape;1072;g3e33ad06252_2_6217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3" name="Google Shape;1073;g3e33ad06252_2_6217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4" name="Google Shape;1074;g3e33ad06252_2_6217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5" name="Google Shape;1075;g3e33ad06252_2_6217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6" name="Google Shape;1076;g3e33ad06252_2_6217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077" name="Google Shape;1077;g3e33ad06252_2_6217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078" name="Google Shape;1078;g3e33ad06252_2_6217"/>
          <p:cNvSpPr txBox="1"/>
          <p:nvPr/>
        </p:nvSpPr>
        <p:spPr>
          <a:xfrm>
            <a:off x="1109925" y="2017650"/>
            <a:ext cx="5262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correction field over a frozen base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13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085" name="Google Shape;1085;p13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3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3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3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3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3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3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3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3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3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3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3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6" name="Google Shape;1106;p13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Same engine, different domain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13"/>
          <p:cNvSpPr txBox="1"/>
          <p:nvPr/>
        </p:nvSpPr>
        <p:spPr>
          <a:xfrm>
            <a:off x="923925" y="1190625"/>
            <a:ext cx="7296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Prior demonstrations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08" name="Google Shape;1108;p13"/>
          <p:cNvSpPr txBox="1"/>
          <p:nvPr>
            <p:ph idx="1" type="body"/>
          </p:nvPr>
        </p:nvSpPr>
        <p:spPr>
          <a:xfrm>
            <a:off x="923925" y="2000250"/>
            <a:ext cx="72963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substrate is the one validated in the foundational IBF paper.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Chess: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+88.9 ± 2.8 cp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under independent Stockfish evaluation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CIFAR-100: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BT = −0.004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across 20 sequential tasks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RRW (controlled): 43% less forgetting than replay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work asks whether the same substrate carries the truth-maintenance lifecycle in language models.</a:t>
            </a:r>
            <a:endParaRPr b="0" i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p14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115" name="Google Shape;1115;p14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4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4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4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4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4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4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4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6" name="Google Shape;1136;p14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frozen base distribution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137" name="Google Shape;1137;p14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138" name="Google Shape;1138;p14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4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DISTRIBUTION MECHANICS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0" name="Google Shape;1140;p14"/>
          <p:cNvSpPr txBox="1"/>
          <p:nvPr>
            <p:ph idx="1" type="body"/>
          </p:nvPr>
        </p:nvSpPr>
        <p:spPr>
          <a:xfrm>
            <a:off x="923925" y="2000250"/>
            <a:ext cx="7296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fundamental component of the truth-maintenance substrate.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Prompt Assignment: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Base assigns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R_base(x, y)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to each candidate.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4-Choice Selection: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Consists of one correct answer and three distractors.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Probabilistic Model: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R_base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softmax probability from first-answer-token logits.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Strict Isolation: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Base held strictly frozen — no gradient ever flows into it.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oogle Shape;1146;p15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147" name="Google Shape;1147;p15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5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CORRECTION DYNAMICS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49" name="Google Shape;1149;p15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orthogonal correction field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150" name="Google Shape;1150;p15"/>
          <p:cNvSpPr txBox="1"/>
          <p:nvPr>
            <p:ph idx="1" type="body"/>
          </p:nvPr>
        </p:nvSpPr>
        <p:spPr>
          <a:xfrm>
            <a:off x="923925" y="2000250"/>
            <a:ext cx="7296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R_eff(x, y) = R_base(x, y) + δR(φ(x, y))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“Orthogonal” = parameter-independence, not geometric perpendicularity. No gradient path between field and base in either direction.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independence buys:</a:t>
            </a:r>
            <a:endParaRPr b="1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Inspectable: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content is a readable set of stored centers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individual centers update without retraining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Removable:</a:t>
            </a:r>
            <a:r>
              <a:rPr b="0" i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centers can be dissolved, gated, or deleted without editing the base</a:t>
            </a:r>
            <a:endParaRPr b="0" i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151" name="Google Shape;1151;p15"/>
          <p:cNvSpPr/>
          <p:nvPr/>
        </p:nvSpPr>
        <p:spPr>
          <a:xfrm rot="8100000">
            <a:off x="4441346" y="491789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15"/>
          <p:cNvSpPr/>
          <p:nvPr/>
        </p:nvSpPr>
        <p:spPr>
          <a:xfrm rot="2700000">
            <a:off x="4441345" y="546869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5"/>
          <p:cNvSpPr/>
          <p:nvPr/>
        </p:nvSpPr>
        <p:spPr>
          <a:xfrm rot="-8100000">
            <a:off x="4642259" y="489841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5"/>
          <p:cNvSpPr/>
          <p:nvPr/>
        </p:nvSpPr>
        <p:spPr>
          <a:xfrm rot="-2700000">
            <a:off x="4642255" y="544905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15"/>
          <p:cNvSpPr/>
          <p:nvPr/>
        </p:nvSpPr>
        <p:spPr>
          <a:xfrm rot="2700000">
            <a:off x="4511975" y="618160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15"/>
          <p:cNvSpPr/>
          <p:nvPr/>
        </p:nvSpPr>
        <p:spPr>
          <a:xfrm rot="-2700000">
            <a:off x="4567049" y="618175"/>
            <a:ext cx="58548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5"/>
          <p:cNvSpPr/>
          <p:nvPr/>
        </p:nvSpPr>
        <p:spPr>
          <a:xfrm rot="-8100000">
            <a:off x="4569783" y="418286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5"/>
          <p:cNvSpPr/>
          <p:nvPr/>
        </p:nvSpPr>
        <p:spPr>
          <a:xfrm rot="8100000">
            <a:off x="4514717" y="418283"/>
            <a:ext cx="58548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15"/>
          <p:cNvSpPr/>
          <p:nvPr/>
        </p:nvSpPr>
        <p:spPr>
          <a:xfrm rot="-2700000">
            <a:off x="4592401" y="418542"/>
            <a:ext cx="158675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15"/>
          <p:cNvSpPr/>
          <p:nvPr/>
        </p:nvSpPr>
        <p:spPr>
          <a:xfrm rot="-2700000">
            <a:off x="4389795" y="620578"/>
            <a:ext cx="158675" cy="17819"/>
          </a:xfrm>
          <a:prstGeom prst="roundRect">
            <a:avLst>
              <a:gd fmla="val 49998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5"/>
          <p:cNvSpPr/>
          <p:nvPr/>
        </p:nvSpPr>
        <p:spPr>
          <a:xfrm rot="2700000">
            <a:off x="4392141" y="417037"/>
            <a:ext cx="158675" cy="17819"/>
          </a:xfrm>
          <a:prstGeom prst="roundRect">
            <a:avLst>
              <a:gd fmla="val 50000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5"/>
          <p:cNvSpPr/>
          <p:nvPr/>
        </p:nvSpPr>
        <p:spPr>
          <a:xfrm rot="2700000">
            <a:off x="4594748" y="619073"/>
            <a:ext cx="158675" cy="17819"/>
          </a:xfrm>
          <a:prstGeom prst="roundRect">
            <a:avLst>
              <a:gd fmla="val 49999" name="adj"/>
            </a:avLst>
          </a:prstGeom>
          <a:solidFill>
            <a:srgbClr val="353635"/>
          </a:solidFill>
          <a:ln cap="flat" cmpd="sng" w="1075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5"/>
          <p:cNvSpPr/>
          <p:nvPr/>
        </p:nvSpPr>
        <p:spPr>
          <a:xfrm>
            <a:off x="4405046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15"/>
          <p:cNvSpPr/>
          <p:nvPr/>
        </p:nvSpPr>
        <p:spPr>
          <a:xfrm>
            <a:off x="4531500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15"/>
          <p:cNvSpPr/>
          <p:nvPr/>
        </p:nvSpPr>
        <p:spPr>
          <a:xfrm>
            <a:off x="4657945" y="356826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15"/>
          <p:cNvSpPr/>
          <p:nvPr/>
        </p:nvSpPr>
        <p:spPr>
          <a:xfrm>
            <a:off x="4405046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5"/>
          <p:cNvSpPr/>
          <p:nvPr/>
        </p:nvSpPr>
        <p:spPr>
          <a:xfrm>
            <a:off x="4531500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5"/>
          <p:cNvSpPr/>
          <p:nvPr/>
        </p:nvSpPr>
        <p:spPr>
          <a:xfrm>
            <a:off x="4657945" y="485887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15"/>
          <p:cNvSpPr/>
          <p:nvPr/>
        </p:nvSpPr>
        <p:spPr>
          <a:xfrm>
            <a:off x="4405046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5"/>
          <p:cNvSpPr/>
          <p:nvPr/>
        </p:nvSpPr>
        <p:spPr>
          <a:xfrm>
            <a:off x="4531500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15"/>
          <p:cNvSpPr/>
          <p:nvPr/>
        </p:nvSpPr>
        <p:spPr>
          <a:xfrm>
            <a:off x="4657945" y="614949"/>
            <a:ext cx="81000" cy="80700"/>
          </a:xfrm>
          <a:prstGeom prst="ellipse">
            <a:avLst/>
          </a:prstGeom>
          <a:solidFill>
            <a:srgbClr val="FFFFFF"/>
          </a:solidFill>
          <a:ln cap="flat" cmpd="sng" w="17200">
            <a:solidFill>
              <a:srgbClr val="353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16"/>
          <p:cNvGrpSpPr/>
          <p:nvPr/>
        </p:nvGrpSpPr>
        <p:grpSpPr>
          <a:xfrm>
            <a:off x="4405046" y="356825"/>
            <a:ext cx="333898" cy="338824"/>
            <a:chOff x="4405046" y="356825"/>
            <a:chExt cx="333898" cy="338824"/>
          </a:xfrm>
        </p:grpSpPr>
        <p:sp>
          <p:nvSpPr>
            <p:cNvPr id="1178" name="Google Shape;1178;p16"/>
            <p:cNvSpPr/>
            <p:nvPr/>
          </p:nvSpPr>
          <p:spPr>
            <a:xfrm rot="8100000">
              <a:off x="4441338" y="491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 rot="2700000">
              <a:off x="4441345" y="54686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 rot="-8100000">
              <a:off x="4642266" y="489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 rot="-2700000">
              <a:off x="4642255" y="544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 rot="2700000">
              <a:off x="4511975" y="618164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 rot="-2700000">
              <a:off x="4567049" y="618171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 rot="-8100000">
              <a:off x="4569790" y="418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 rot="8100000">
              <a:off x="4514709" y="4182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 rot="-2700000">
              <a:off x="4592401" y="418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 rot="-2700000">
              <a:off x="4389795" y="62058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 rot="2700000">
              <a:off x="4392141" y="417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 rot="2700000">
              <a:off x="4594748" y="61907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44050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4531500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4657944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44050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4531500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4657944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44050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4531500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4657944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9" name="Google Shape;1199;p16"/>
          <p:cNvSpPr txBox="1"/>
          <p:nvPr/>
        </p:nvSpPr>
        <p:spPr>
          <a:xfrm>
            <a:off x="457200" y="952500"/>
            <a:ext cx="822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VECTOR SPACE ARCHITECTURE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16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Proposition space and local centers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01" name="Google Shape;1201;p16"/>
          <p:cNvSpPr txBox="1"/>
          <p:nvPr>
            <p:ph idx="1" type="body"/>
          </p:nvPr>
        </p:nvSpPr>
        <p:spPr>
          <a:xfrm>
            <a:off x="923925" y="1905000"/>
            <a:ext cx="72963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80D proposition vector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= 64D MPNet+PCA semantic + 8D subject features + 8D answer features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δR(z) = Σᵢ gᵢ(z, c) · vᵢ · exp(−‖z − zᵢ‖² / 2σᵢ²)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Each center carries: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Location zᵢ, amplitude vᵢ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(clipped to |vᵢ| ≤ v_max), bandwidth σᵢ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Read-gating gᵢ: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same-context always; cross-context after verification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Context tag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(nucleating phase)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Thermodynamic state: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transient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at birth, </a:t>
            </a:r>
            <a:r>
              <a:rPr b="0" i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crystallized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after local discrepancy converges</a:t>
            </a:r>
            <a:endParaRPr b="0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7" name="Google Shape;1207;p17"/>
          <p:cNvGrpSpPr/>
          <p:nvPr/>
        </p:nvGrpSpPr>
        <p:grpSpPr>
          <a:xfrm>
            <a:off x="4405198" y="356827"/>
            <a:ext cx="333598" cy="338824"/>
            <a:chOff x="23698" y="-24173"/>
            <a:chExt cx="333598" cy="338824"/>
          </a:xfrm>
        </p:grpSpPr>
        <p:sp>
          <p:nvSpPr>
            <p:cNvPr id="1208" name="Google Shape;1208;p17"/>
            <p:cNvSpPr/>
            <p:nvPr/>
          </p:nvSpPr>
          <p:spPr>
            <a:xfrm rot="8100000">
              <a:off x="59838" y="110793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7"/>
            <p:cNvSpPr/>
            <p:nvPr/>
          </p:nvSpPr>
          <p:spPr>
            <a:xfrm rot="2700000">
              <a:off x="59845" y="165866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7"/>
            <p:cNvSpPr/>
            <p:nvPr/>
          </p:nvSpPr>
          <p:spPr>
            <a:xfrm rot="-8100000">
              <a:off x="260766" y="10884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7"/>
            <p:cNvSpPr/>
            <p:nvPr/>
          </p:nvSpPr>
          <p:spPr>
            <a:xfrm rot="-2700000">
              <a:off x="260755" y="16390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7"/>
            <p:cNvSpPr/>
            <p:nvPr/>
          </p:nvSpPr>
          <p:spPr>
            <a:xfrm rot="2700000">
              <a:off x="130475" y="23716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7"/>
            <p:cNvSpPr/>
            <p:nvPr/>
          </p:nvSpPr>
          <p:spPr>
            <a:xfrm rot="-2700000">
              <a:off x="185549" y="23717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7"/>
            <p:cNvSpPr/>
            <p:nvPr/>
          </p:nvSpPr>
          <p:spPr>
            <a:xfrm rot="-8100000">
              <a:off x="188290" y="372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7"/>
            <p:cNvSpPr/>
            <p:nvPr/>
          </p:nvSpPr>
          <p:spPr>
            <a:xfrm rot="8100000">
              <a:off x="133209" y="37287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7"/>
            <p:cNvSpPr/>
            <p:nvPr/>
          </p:nvSpPr>
          <p:spPr>
            <a:xfrm rot="-2700000">
              <a:off x="210901" y="375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7"/>
            <p:cNvSpPr/>
            <p:nvPr/>
          </p:nvSpPr>
          <p:spPr>
            <a:xfrm rot="-2700000">
              <a:off x="8295" y="2395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7"/>
            <p:cNvSpPr/>
            <p:nvPr/>
          </p:nvSpPr>
          <p:spPr>
            <a:xfrm rot="2700000">
              <a:off x="10641" y="3604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7"/>
            <p:cNvSpPr/>
            <p:nvPr/>
          </p:nvSpPr>
          <p:spPr>
            <a:xfrm rot="2700000">
              <a:off x="213248" y="23807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7"/>
            <p:cNvSpPr/>
            <p:nvPr/>
          </p:nvSpPr>
          <p:spPr>
            <a:xfrm>
              <a:off x="23698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7"/>
            <p:cNvSpPr/>
            <p:nvPr/>
          </p:nvSpPr>
          <p:spPr>
            <a:xfrm>
              <a:off x="150152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7"/>
            <p:cNvSpPr/>
            <p:nvPr/>
          </p:nvSpPr>
          <p:spPr>
            <a:xfrm>
              <a:off x="276596" y="-24173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7"/>
            <p:cNvSpPr/>
            <p:nvPr/>
          </p:nvSpPr>
          <p:spPr>
            <a:xfrm>
              <a:off x="23698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7"/>
            <p:cNvSpPr/>
            <p:nvPr/>
          </p:nvSpPr>
          <p:spPr>
            <a:xfrm>
              <a:off x="150152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7"/>
            <p:cNvSpPr/>
            <p:nvPr/>
          </p:nvSpPr>
          <p:spPr>
            <a:xfrm>
              <a:off x="276596" y="104889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7"/>
            <p:cNvSpPr/>
            <p:nvPr/>
          </p:nvSpPr>
          <p:spPr>
            <a:xfrm>
              <a:off x="23698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7"/>
            <p:cNvSpPr/>
            <p:nvPr/>
          </p:nvSpPr>
          <p:spPr>
            <a:xfrm>
              <a:off x="150152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7"/>
            <p:cNvSpPr/>
            <p:nvPr/>
          </p:nvSpPr>
          <p:spPr>
            <a:xfrm>
              <a:off x="276596" y="233951"/>
              <a:ext cx="807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9" name="Google Shape;1229;p17"/>
          <p:cNvGrpSpPr/>
          <p:nvPr/>
        </p:nvGrpSpPr>
        <p:grpSpPr>
          <a:xfrm>
            <a:off x="457200" y="952500"/>
            <a:ext cx="8229600" cy="381000"/>
            <a:chOff x="457200" y="952500"/>
            <a:chExt cx="8229600" cy="381000"/>
          </a:xfrm>
        </p:grpSpPr>
        <p:sp>
          <p:nvSpPr>
            <p:cNvPr id="1230" name="Google Shape;1230;p17"/>
            <p:cNvSpPr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7"/>
            <p:cNvSpPr txBox="1"/>
            <p:nvPr/>
          </p:nvSpPr>
          <p:spPr>
            <a:xfrm>
              <a:off x="457200" y="952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CORRECTION DYNAMICS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32" name="Google Shape;1232;p17"/>
          <p:cNvSpPr txBox="1"/>
          <p:nvPr>
            <p:ph type="title"/>
          </p:nvPr>
        </p:nvSpPr>
        <p:spPr>
          <a:xfrm>
            <a:off x="457200" y="119062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Field dynamics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233" name="Google Shape;1233;p17"/>
          <p:cNvSpPr txBox="1"/>
          <p:nvPr>
            <p:ph idx="1" type="body"/>
          </p:nvPr>
        </p:nvSpPr>
        <p:spPr>
          <a:xfrm>
            <a:off x="762000" y="1905000"/>
            <a:ext cx="7620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Driving signal: D = R_target − R_eff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Two write passes per epoch: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Pass 1 — cross-context check: crystallized centers log raw D against history (the </a:t>
            </a: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Crucible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Pass 2 — same-context update: nearby centers update amplitudes; nucleate new center if none covers location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Three end-of-epoch operations in order: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Crystallization: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μ_base = 0.06 → μ_cryst = 0.001 (60× decay-rate drop)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Crucible: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contradicted crystallized centers dissolve back to transient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200"/>
              <a:buFont typeface="Source Serif 4"/>
              <a:buChar char="●"/>
            </a:pPr>
            <a:r>
              <a:rPr b="1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Merging:</a:t>
            </a:r>
            <a:r>
              <a:rPr b="0" lang="en-US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drift consolidation; crystallized retained preferentially under capacity bound</a:t>
            </a:r>
            <a:endParaRPr b="1" sz="12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" name="Google Shape;1239;g3e33ad06252_2_617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240" name="Google Shape;1240;g3e33ad06252_2_617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1" name="Google Shape;1241;g3e33ad06252_2_617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2" name="Google Shape;1242;g3e33ad06252_2_617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3" name="Google Shape;1243;g3e33ad06252_2_617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4" name="Google Shape;1244;g3e33ad06252_2_617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5" name="Google Shape;1245;g3e33ad06252_2_617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6" name="Google Shape;1246;g3e33ad06252_2_617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7" name="Google Shape;1247;g3e33ad06252_2_617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8" name="Google Shape;1248;g3e33ad06252_2_617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49" name="Google Shape;1249;g3e33ad06252_2_617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0" name="Google Shape;1250;g3e33ad06252_2_617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1" name="Google Shape;1251;g3e33ad06252_2_617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2" name="Google Shape;1252;g3e33ad06252_2_617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3" name="Google Shape;1253;g3e33ad06252_2_617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4" name="Google Shape;1254;g3e33ad06252_2_617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5" name="Google Shape;1255;g3e33ad06252_2_617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6" name="Google Shape;1256;g3e33ad06252_2_617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7" name="Google Shape;1257;g3e33ad06252_2_617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8" name="Google Shape;1258;g3e33ad06252_2_617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59" name="Google Shape;1259;g3e33ad06252_2_617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60" name="Google Shape;1260;g3e33ad06252_2_617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261" name="Google Shape;1261;g3e33ad06252_2_617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62" name="Google Shape;1262;g3e33ad06252_2_6176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263" name="Google Shape;1263;g3e33ad06252_2_6176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4" name="Google Shape;1264;g3e33ad06252_2_6176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5" name="Google Shape;1265;g3e33ad06252_2_6176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6" name="Google Shape;1266;g3e33ad06252_2_6176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7" name="Google Shape;1267;g3e33ad06252_2_6176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8" name="Google Shape;1268;g3e33ad06252_2_6176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69" name="Google Shape;1269;g3e33ad06252_2_6176"/>
          <p:cNvSpPr txBox="1"/>
          <p:nvPr/>
        </p:nvSpPr>
        <p:spPr>
          <a:xfrm>
            <a:off x="4509975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270" name="Google Shape;1270;g3e33ad06252_2_6176"/>
          <p:cNvSpPr/>
          <p:nvPr/>
        </p:nvSpPr>
        <p:spPr>
          <a:xfrm>
            <a:off x="5145047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g3e33ad06252_2_6176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g3e33ad06252_2_6176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3e33ad06252_2_6176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g3e33ad06252_2_6176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g3e33ad06252_2_6176"/>
          <p:cNvSpPr txBox="1"/>
          <p:nvPr/>
        </p:nvSpPr>
        <p:spPr>
          <a:xfrm>
            <a:off x="4540688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6" name="Google Shape;1276;g3e33ad06252_2_6176"/>
          <p:cNvSpPr/>
          <p:nvPr/>
        </p:nvSpPr>
        <p:spPr>
          <a:xfrm rot="5400000">
            <a:off x="1848651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2" name="Google Shape;1282;g3e33ad06252_2_6245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283" name="Google Shape;1283;g3e33ad06252_2_6245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4" name="Google Shape;1284;g3e33ad06252_2_6245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5" name="Google Shape;1285;g3e33ad06252_2_6245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6" name="Google Shape;1286;g3e33ad06252_2_6245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7" name="Google Shape;1287;g3e33ad06252_2_6245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8" name="Google Shape;1288;g3e33ad06252_2_6245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89" name="Google Shape;1289;g3e33ad06252_2_6245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0" name="Google Shape;1290;g3e33ad06252_2_6245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1" name="Google Shape;1291;g3e33ad06252_2_6245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2" name="Google Shape;1292;g3e33ad06252_2_6245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3" name="Google Shape;1293;g3e33ad06252_2_6245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4" name="Google Shape;1294;g3e33ad06252_2_6245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5" name="Google Shape;1295;g3e33ad06252_2_6245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6" name="Google Shape;1296;g3e33ad06252_2_6245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7" name="Google Shape;1297;g3e33ad06252_2_6245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8" name="Google Shape;1298;g3e33ad06252_2_6245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299" name="Google Shape;1299;g3e33ad06252_2_6245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0" name="Google Shape;1300;g3e33ad06252_2_6245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1" name="Google Shape;1301;g3e33ad06252_2_6245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2" name="Google Shape;1302;g3e33ad06252_2_6245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303" name="Google Shape;1303;g3e33ad06252_2_6245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304" name="Google Shape;1304;g3e33ad06252_2_6245"/>
          <p:cNvSpPr txBox="1"/>
          <p:nvPr/>
        </p:nvSpPr>
        <p:spPr>
          <a:xfrm>
            <a:off x="1109925" y="2017650"/>
            <a:ext cx="526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test environment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Future Industries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" name="Google Shape;1310;p18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11" name="Google Shape;1311;p18"/>
            <p:cNvSpPr/>
            <p:nvPr/>
          </p:nvSpPr>
          <p:spPr>
            <a:xfrm rot="8100000">
              <a:off x="4532789" y="35999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8"/>
            <p:cNvSpPr/>
            <p:nvPr/>
          </p:nvSpPr>
          <p:spPr>
            <a:xfrm rot="2700000">
              <a:off x="4532797" y="41505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8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8"/>
            <p:cNvSpPr/>
            <p:nvPr/>
          </p:nvSpPr>
          <p:spPr>
            <a:xfrm rot="-2700000">
              <a:off x="4733707" y="41311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8"/>
            <p:cNvSpPr/>
            <p:nvPr/>
          </p:nvSpPr>
          <p:spPr>
            <a:xfrm rot="2700000">
              <a:off x="4603431" y="48637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8"/>
            <p:cNvSpPr/>
            <p:nvPr/>
          </p:nvSpPr>
          <p:spPr>
            <a:xfrm rot="-2700000">
              <a:off x="4658505" y="486365"/>
              <a:ext cx="58548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8"/>
            <p:cNvSpPr/>
            <p:nvPr/>
          </p:nvSpPr>
          <p:spPr>
            <a:xfrm rot="-8100000">
              <a:off x="4661233" y="28648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8"/>
            <p:cNvSpPr/>
            <p:nvPr/>
          </p:nvSpPr>
          <p:spPr>
            <a:xfrm rot="8100000">
              <a:off x="4606160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8"/>
            <p:cNvSpPr/>
            <p:nvPr/>
          </p:nvSpPr>
          <p:spPr>
            <a:xfrm rot="-2700000">
              <a:off x="4683854" y="28675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8"/>
            <p:cNvSpPr/>
            <p:nvPr/>
          </p:nvSpPr>
          <p:spPr>
            <a:xfrm rot="-2700000">
              <a:off x="4481247" y="48878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8"/>
            <p:cNvSpPr/>
            <p:nvPr/>
          </p:nvSpPr>
          <p:spPr>
            <a:xfrm rot="2700000">
              <a:off x="4483598" y="285248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8"/>
            <p:cNvSpPr/>
            <p:nvPr/>
          </p:nvSpPr>
          <p:spPr>
            <a:xfrm rot="2700000">
              <a:off x="4686204" y="487284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8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8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8"/>
            <p:cNvSpPr/>
            <p:nvPr/>
          </p:nvSpPr>
          <p:spPr>
            <a:xfrm>
              <a:off x="4749403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8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8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8"/>
            <p:cNvSpPr/>
            <p:nvPr/>
          </p:nvSpPr>
          <p:spPr>
            <a:xfrm>
              <a:off x="4749403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8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8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4749403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2" name="Google Shape;1332;p18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Future Industries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33" name="Google Shape;1333;p18"/>
          <p:cNvSpPr txBox="1"/>
          <p:nvPr/>
        </p:nvSpPr>
        <p:spPr>
          <a:xfrm>
            <a:off x="3076575" y="762000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THE TEST ENVIRONMENT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4" name="Google Shape;1334;p18"/>
          <p:cNvSpPr txBox="1"/>
          <p:nvPr>
            <p:ph idx="1" type="body"/>
          </p:nvPr>
        </p:nvSpPr>
        <p:spPr>
          <a:xfrm>
            <a:off x="933450" y="1714500"/>
            <a:ext cx="72771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115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Synthetic organization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with ~1,000 employees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Structured relations: manager, team, project, mentor, location, certification, committee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Chosen because: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Easy to visualize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Operations map cleanly onto the lifecycle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1" marL="914400" rtl="0" algn="l">
              <a:spcBef>
                <a:spcPts val="400"/>
              </a:spcBef>
              <a:spcAft>
                <a:spcPts val="1200"/>
              </a:spcAft>
              <a:buClr>
                <a:srgbClr val="353635"/>
              </a:buClr>
              <a:buSzPts val="1300"/>
              <a:buFont typeface="Source Serif 4"/>
              <a:buChar char="○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Synthetic → facts aren’t in any base model’s pretraining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41" name="Google Shape;1341;p19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9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9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4" name="Google Shape;1344;p19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45" name="Google Shape;1345;p19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19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19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19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19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19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19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19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19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19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19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9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9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9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9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19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19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19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9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9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9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6" name="Google Shape;1366;p19"/>
          <p:cNvSpPr txBox="1"/>
          <p:nvPr/>
        </p:nvSpPr>
        <p:spPr>
          <a:xfrm>
            <a:off x="3076575" y="762000"/>
            <a:ext cx="299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LIFECYCLE OVERVIEW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9"/>
          <p:cNvSpPr txBox="1"/>
          <p:nvPr>
            <p:ph type="title"/>
          </p:nvPr>
        </p:nvSpPr>
        <p:spPr>
          <a:xfrm>
            <a:off x="457200" y="95250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Four Phases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368" name="Google Shape;1368;p19"/>
          <p:cNvGrpSpPr/>
          <p:nvPr/>
        </p:nvGrpSpPr>
        <p:grpSpPr>
          <a:xfrm>
            <a:off x="571500" y="1714500"/>
            <a:ext cx="1714500" cy="2476500"/>
            <a:chOff x="571500" y="1714500"/>
            <a:chExt cx="1714500" cy="2476500"/>
          </a:xfrm>
        </p:grpSpPr>
        <p:sp>
          <p:nvSpPr>
            <p:cNvPr id="1369" name="Google Shape;1369;p19"/>
            <p:cNvSpPr/>
            <p:nvPr/>
          </p:nvSpPr>
          <p:spPr>
            <a:xfrm>
              <a:off x="571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9"/>
            <p:cNvSpPr txBox="1"/>
            <p:nvPr/>
          </p:nvSpPr>
          <p:spPr>
            <a:xfrm>
              <a:off x="714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A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Onboarding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Initial manager, team, project, mentor, and location facts.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1" name="Google Shape;1371;p19"/>
          <p:cNvGrpSpPr/>
          <p:nvPr/>
        </p:nvGrpSpPr>
        <p:grpSpPr>
          <a:xfrm>
            <a:off x="2476500" y="1714500"/>
            <a:ext cx="1714500" cy="2476500"/>
            <a:chOff x="2476500" y="1714500"/>
            <a:chExt cx="1714500" cy="2476500"/>
          </a:xfrm>
        </p:grpSpPr>
        <p:sp>
          <p:nvSpPr>
            <p:cNvPr id="1372" name="Google Shape;1372;p19"/>
            <p:cNvSpPr/>
            <p:nvPr/>
          </p:nvSpPr>
          <p:spPr>
            <a:xfrm>
              <a:off x="2476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9"/>
            <p:cNvSpPr txBox="1"/>
            <p:nvPr/>
          </p:nvSpPr>
          <p:spPr>
            <a:xfrm>
              <a:off x="2619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B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Initiative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New categories (certifications, committees); no contradictions with A.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4" name="Google Shape;1374;p19"/>
          <p:cNvGrpSpPr/>
          <p:nvPr/>
        </p:nvGrpSpPr>
        <p:grpSpPr>
          <a:xfrm>
            <a:off x="4381500" y="1714500"/>
            <a:ext cx="1714500" cy="2476500"/>
            <a:chOff x="4381500" y="1714500"/>
            <a:chExt cx="1714500" cy="2476500"/>
          </a:xfrm>
        </p:grpSpPr>
        <p:sp>
          <p:nvSpPr>
            <p:cNvPr id="1375" name="Google Shape;1375;p19"/>
            <p:cNvSpPr/>
            <p:nvPr/>
          </p:nvSpPr>
          <p:spPr>
            <a:xfrm>
              <a:off x="4381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9"/>
            <p:cNvSpPr txBox="1"/>
            <p:nvPr/>
          </p:nvSpPr>
          <p:spPr>
            <a:xfrm>
              <a:off x="4524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C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Reorganization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Structured revisions to Phase A's existing facts.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377" name="Google Shape;1377;p19"/>
          <p:cNvGrpSpPr/>
          <p:nvPr/>
        </p:nvGrpSpPr>
        <p:grpSpPr>
          <a:xfrm>
            <a:off x="6286500" y="1714500"/>
            <a:ext cx="1714500" cy="2476500"/>
            <a:chOff x="6286500" y="1714500"/>
            <a:chExt cx="1714500" cy="2476500"/>
          </a:xfrm>
        </p:grpSpPr>
        <p:sp>
          <p:nvSpPr>
            <p:cNvPr id="1378" name="Google Shape;1378;p19"/>
            <p:cNvSpPr/>
            <p:nvPr/>
          </p:nvSpPr>
          <p:spPr>
            <a:xfrm>
              <a:off x="6286500" y="1714500"/>
              <a:ext cx="1714500" cy="2476500"/>
            </a:xfrm>
            <a:prstGeom prst="roundRect">
              <a:avLst>
                <a:gd fmla="val 4444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9"/>
            <p:cNvSpPr txBox="1"/>
            <p:nvPr/>
          </p:nvSpPr>
          <p:spPr>
            <a:xfrm>
              <a:off x="6429375" y="1857375"/>
              <a:ext cx="1428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D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Turnover</a:t>
              </a:r>
              <a:endParaRPr b="1" sz="12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Reassignments and partial replacement of established data.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86" name="Google Shape;1386;p20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0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0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0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390" name="Google Shape;1390;p20"/>
            <p:cNvSpPr/>
            <p:nvPr/>
          </p:nvSpPr>
          <p:spPr>
            <a:xfrm rot="8100000">
              <a:off x="4532789" y="35999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0"/>
            <p:cNvSpPr/>
            <p:nvPr/>
          </p:nvSpPr>
          <p:spPr>
            <a:xfrm rot="2700000">
              <a:off x="4532797" y="41505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0"/>
            <p:cNvSpPr/>
            <p:nvPr/>
          </p:nvSpPr>
          <p:spPr>
            <a:xfrm rot="-8100000">
              <a:off x="4733709" y="35803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0"/>
            <p:cNvSpPr/>
            <p:nvPr/>
          </p:nvSpPr>
          <p:spPr>
            <a:xfrm rot="-2700000">
              <a:off x="4733707" y="41312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0"/>
            <p:cNvSpPr/>
            <p:nvPr/>
          </p:nvSpPr>
          <p:spPr>
            <a:xfrm rot="2700000">
              <a:off x="4603431" y="48637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0"/>
            <p:cNvSpPr/>
            <p:nvPr/>
          </p:nvSpPr>
          <p:spPr>
            <a:xfrm rot="-2700000">
              <a:off x="4658505" y="48635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0"/>
            <p:cNvSpPr/>
            <p:nvPr/>
          </p:nvSpPr>
          <p:spPr>
            <a:xfrm rot="-8100000">
              <a:off x="4661233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0"/>
            <p:cNvSpPr/>
            <p:nvPr/>
          </p:nvSpPr>
          <p:spPr>
            <a:xfrm rot="8100000">
              <a:off x="460616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0"/>
            <p:cNvSpPr/>
            <p:nvPr/>
          </p:nvSpPr>
          <p:spPr>
            <a:xfrm rot="-2700000">
              <a:off x="4683854" y="28675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0"/>
            <p:cNvSpPr/>
            <p:nvPr/>
          </p:nvSpPr>
          <p:spPr>
            <a:xfrm rot="-2700000">
              <a:off x="4481247" y="48879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0"/>
            <p:cNvSpPr/>
            <p:nvPr/>
          </p:nvSpPr>
          <p:spPr>
            <a:xfrm rot="2700000">
              <a:off x="4483597" y="285253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0"/>
            <p:cNvSpPr/>
            <p:nvPr/>
          </p:nvSpPr>
          <p:spPr>
            <a:xfrm rot="2700000">
              <a:off x="4686204" y="487289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0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0"/>
            <p:cNvSpPr/>
            <p:nvPr/>
          </p:nvSpPr>
          <p:spPr>
            <a:xfrm>
              <a:off x="4622949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0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0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0"/>
            <p:cNvSpPr/>
            <p:nvPr/>
          </p:nvSpPr>
          <p:spPr>
            <a:xfrm>
              <a:off x="4622949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0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0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0"/>
            <p:cNvSpPr/>
            <p:nvPr/>
          </p:nvSpPr>
          <p:spPr>
            <a:xfrm>
              <a:off x="4622949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0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1" name="Google Shape;1411;p20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Sara Chen across the Lifecycle</a:t>
            </a:r>
            <a:endParaRPr b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12" name="Google Shape;1412;p20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WORKED EXAMPLE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13" name="Google Shape;1413;p20"/>
          <p:cNvGrpSpPr/>
          <p:nvPr/>
        </p:nvGrpSpPr>
        <p:grpSpPr>
          <a:xfrm>
            <a:off x="619125" y="1619250"/>
            <a:ext cx="1619100" cy="2381400"/>
            <a:chOff x="619125" y="1619250"/>
            <a:chExt cx="1619100" cy="2381400"/>
          </a:xfrm>
        </p:grpSpPr>
        <p:sp>
          <p:nvSpPr>
            <p:cNvPr id="1414" name="Google Shape;1414;p20"/>
            <p:cNvSpPr/>
            <p:nvPr/>
          </p:nvSpPr>
          <p:spPr>
            <a:xfrm>
              <a:off x="6191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0"/>
            <p:cNvSpPr txBox="1"/>
            <p:nvPr/>
          </p:nvSpPr>
          <p:spPr>
            <a:xfrm>
              <a:off x="7620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A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Lead Engineer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Reports to Karim Patel. Phoenix team.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16" name="Google Shape;1416;p20"/>
          <p:cNvGrpSpPr/>
          <p:nvPr/>
        </p:nvGrpSpPr>
        <p:grpSpPr>
          <a:xfrm>
            <a:off x="2333625" y="1619250"/>
            <a:ext cx="1619100" cy="2381400"/>
            <a:chOff x="2333625" y="1619250"/>
            <a:chExt cx="1619100" cy="2381400"/>
          </a:xfrm>
        </p:grpSpPr>
        <p:sp>
          <p:nvSpPr>
            <p:cNvPr id="1417" name="Google Shape;1417;p20"/>
            <p:cNvSpPr/>
            <p:nvPr/>
          </p:nvSpPr>
          <p:spPr>
            <a:xfrm>
              <a:off x="23336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0"/>
            <p:cNvSpPr txBox="1"/>
            <p:nvPr/>
          </p:nvSpPr>
          <p:spPr>
            <a:xfrm>
              <a:off x="24765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B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Implementation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Joins Project Aether implementation committee.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19" name="Google Shape;1419;p20"/>
          <p:cNvGrpSpPr/>
          <p:nvPr/>
        </p:nvGrpSpPr>
        <p:grpSpPr>
          <a:xfrm>
            <a:off x="4048125" y="1619250"/>
            <a:ext cx="1619100" cy="2381400"/>
            <a:chOff x="4048125" y="1619250"/>
            <a:chExt cx="1619100" cy="2381400"/>
          </a:xfrm>
        </p:grpSpPr>
        <p:sp>
          <p:nvSpPr>
            <p:cNvPr id="1420" name="Google Shape;1420;p20"/>
            <p:cNvSpPr/>
            <p:nvPr/>
          </p:nvSpPr>
          <p:spPr>
            <a:xfrm>
              <a:off x="40481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0"/>
            <p:cNvSpPr txBox="1"/>
            <p:nvPr/>
          </p:nvSpPr>
          <p:spPr>
            <a:xfrm>
              <a:off x="41910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C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Transfer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Transfers to Theta team. Reports to Maya Rao.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grpSp>
        <p:nvGrpSpPr>
          <p:cNvPr id="1422" name="Google Shape;1422;p20"/>
          <p:cNvGrpSpPr/>
          <p:nvPr/>
        </p:nvGrpSpPr>
        <p:grpSpPr>
          <a:xfrm>
            <a:off x="5762625" y="1619250"/>
            <a:ext cx="1619100" cy="2381400"/>
            <a:chOff x="5762625" y="1619250"/>
            <a:chExt cx="1619100" cy="2381400"/>
          </a:xfrm>
        </p:grpSpPr>
        <p:sp>
          <p:nvSpPr>
            <p:cNvPr id="1423" name="Google Shape;1423;p20"/>
            <p:cNvSpPr/>
            <p:nvPr/>
          </p:nvSpPr>
          <p:spPr>
            <a:xfrm>
              <a:off x="5762625" y="1619250"/>
              <a:ext cx="1619100" cy="2381400"/>
            </a:xfrm>
            <a:prstGeom prst="roundRect">
              <a:avLst>
                <a:gd fmla="val 7058" name="adj"/>
              </a:avLst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0"/>
            <p:cNvSpPr txBox="1"/>
            <p:nvPr/>
          </p:nvSpPr>
          <p:spPr>
            <a:xfrm>
              <a:off x="5905500" y="1762125"/>
              <a:ext cx="1333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D21117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Phase D</a:t>
              </a:r>
              <a:endParaRPr b="1" sz="1400">
                <a:solidFill>
                  <a:srgbClr val="D21117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Turnover</a:t>
              </a:r>
              <a:endParaRPr b="1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Leaves company. All propositions retired.</a:t>
              </a:r>
              <a:endParaRPr b="0" sz="10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  <p:sp>
        <p:nvSpPr>
          <p:cNvPr id="1425" name="Google Shape;1425;p20"/>
          <p:cNvSpPr txBox="1"/>
          <p:nvPr/>
        </p:nvSpPr>
        <p:spPr>
          <a:xfrm>
            <a:off x="619125" y="4191000"/>
            <a:ext cx="6762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At the end of D, the model should return cleanly that she’s no longer at the company </a:t>
            </a:r>
            <a:r>
              <a:rPr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- - </a:t>
            </a:r>
            <a:r>
              <a:rPr b="0" i="1" lang="en-US" sz="11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because we deleted the centers, not because we erased the model.</a:t>
            </a:r>
            <a:endParaRPr b="0" i="1" sz="11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1" name="Google Shape;1431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32" name="Google Shape;1432;p21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1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1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21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436" name="Google Shape;1436;p21"/>
            <p:cNvSpPr/>
            <p:nvPr/>
          </p:nvSpPr>
          <p:spPr>
            <a:xfrm rot="8100000">
              <a:off x="4532795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1"/>
            <p:cNvSpPr/>
            <p:nvPr/>
          </p:nvSpPr>
          <p:spPr>
            <a:xfrm rot="2700000">
              <a:off x="4532797" y="41504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1"/>
            <p:cNvSpPr/>
            <p:nvPr/>
          </p:nvSpPr>
          <p:spPr>
            <a:xfrm rot="-8100000">
              <a:off x="4733715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1"/>
            <p:cNvSpPr/>
            <p:nvPr/>
          </p:nvSpPr>
          <p:spPr>
            <a:xfrm rot="-2700000">
              <a:off x="4733707" y="41312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1"/>
            <p:cNvSpPr/>
            <p:nvPr/>
          </p:nvSpPr>
          <p:spPr>
            <a:xfrm rot="2700000">
              <a:off x="4603431" y="48637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1"/>
            <p:cNvSpPr/>
            <p:nvPr/>
          </p:nvSpPr>
          <p:spPr>
            <a:xfrm rot="-2700000">
              <a:off x="4658505" y="48635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1"/>
            <p:cNvSpPr/>
            <p:nvPr/>
          </p:nvSpPr>
          <p:spPr>
            <a:xfrm rot="-8100000">
              <a:off x="4661240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1"/>
            <p:cNvSpPr/>
            <p:nvPr/>
          </p:nvSpPr>
          <p:spPr>
            <a:xfrm rot="8100000">
              <a:off x="4606166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1"/>
            <p:cNvSpPr/>
            <p:nvPr/>
          </p:nvSpPr>
          <p:spPr>
            <a:xfrm rot="-2700000">
              <a:off x="4683854" y="28676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1"/>
            <p:cNvSpPr/>
            <p:nvPr/>
          </p:nvSpPr>
          <p:spPr>
            <a:xfrm rot="-2700000">
              <a:off x="4481247" y="48879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1"/>
            <p:cNvSpPr/>
            <p:nvPr/>
          </p:nvSpPr>
          <p:spPr>
            <a:xfrm rot="2700000">
              <a:off x="4483598" y="285255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1"/>
            <p:cNvSpPr/>
            <p:nvPr/>
          </p:nvSpPr>
          <p:spPr>
            <a:xfrm rot="2700000">
              <a:off x="4686204" y="487292"/>
              <a:ext cx="158675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1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1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1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1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1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1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1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1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1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7" name="Google Shape;1457;p21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Experimental setup</a:t>
            </a:r>
            <a:endParaRPr b="0" i="0" sz="32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58" name="Google Shape;1458;p21"/>
          <p:cNvGrpSpPr/>
          <p:nvPr/>
        </p:nvGrpSpPr>
        <p:grpSpPr>
          <a:xfrm>
            <a:off x="3076575" y="619125"/>
            <a:ext cx="2991000" cy="285900"/>
            <a:chOff x="3076575" y="619125"/>
            <a:chExt cx="2991000" cy="285900"/>
          </a:xfrm>
        </p:grpSpPr>
        <p:sp>
          <p:nvSpPr>
            <p:cNvPr id="1459" name="Google Shape;1459;p21"/>
            <p:cNvSpPr/>
            <p:nvPr/>
          </p:nvSpPr>
          <p:spPr>
            <a:xfrm>
              <a:off x="3076575" y="619125"/>
              <a:ext cx="299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1"/>
            <p:cNvSpPr txBox="1"/>
            <p:nvPr/>
          </p:nvSpPr>
          <p:spPr>
            <a:xfrm>
              <a:off x="3076575" y="619125"/>
              <a:ext cx="29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 DETAILS</a:t>
              </a:r>
              <a:endParaRPr b="1" i="0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61" name="Google Shape;1461;p21"/>
          <p:cNvGrpSpPr/>
          <p:nvPr/>
        </p:nvGrpSpPr>
        <p:grpSpPr>
          <a:xfrm>
            <a:off x="762000" y="1714500"/>
            <a:ext cx="7620000" cy="3048150"/>
            <a:chOff x="762000" y="1714500"/>
            <a:chExt cx="7620000" cy="3048150"/>
          </a:xfrm>
        </p:grpSpPr>
        <p:sp>
          <p:nvSpPr>
            <p:cNvPr id="1462" name="Google Shape;1462;p21"/>
            <p:cNvSpPr/>
            <p:nvPr/>
          </p:nvSpPr>
          <p:spPr>
            <a:xfrm>
              <a:off x="762000" y="1714500"/>
              <a:ext cx="7620000" cy="3048000"/>
            </a:xfrm>
            <a:prstGeom prst="roundRect">
              <a:avLst>
                <a:gd fmla="val 3125" name="adj"/>
              </a:avLst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63" name="Google Shape;1463;p21"/>
            <p:cNvCxnSpPr/>
            <p:nvPr/>
          </p:nvCxnSpPr>
          <p:spPr>
            <a:xfrm>
              <a:off x="762000" y="2143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21"/>
            <p:cNvCxnSpPr/>
            <p:nvPr/>
          </p:nvCxnSpPr>
          <p:spPr>
            <a:xfrm>
              <a:off x="762000" y="25717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5" name="Google Shape;1465;p21"/>
            <p:cNvCxnSpPr/>
            <p:nvPr/>
          </p:nvCxnSpPr>
          <p:spPr>
            <a:xfrm>
              <a:off x="762000" y="30003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6" name="Google Shape;1466;p21"/>
            <p:cNvCxnSpPr/>
            <p:nvPr/>
          </p:nvCxnSpPr>
          <p:spPr>
            <a:xfrm>
              <a:off x="762000" y="34290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7" name="Google Shape;1467;p21"/>
            <p:cNvCxnSpPr/>
            <p:nvPr/>
          </p:nvCxnSpPr>
          <p:spPr>
            <a:xfrm>
              <a:off x="762000" y="3857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8" name="Google Shape;1468;p21"/>
            <p:cNvCxnSpPr/>
            <p:nvPr/>
          </p:nvCxnSpPr>
          <p:spPr>
            <a:xfrm>
              <a:off x="762000" y="4286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9" name="Google Shape;1469;p21"/>
            <p:cNvCxnSpPr/>
            <p:nvPr/>
          </p:nvCxnSpPr>
          <p:spPr>
            <a:xfrm>
              <a:off x="2667000" y="1714500"/>
              <a:ext cx="0" cy="3048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53635">
                  <a:alpha val="2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0" name="Google Shape;1470;p21"/>
            <p:cNvSpPr txBox="1"/>
            <p:nvPr/>
          </p:nvSpPr>
          <p:spPr>
            <a:xfrm>
              <a:off x="857250" y="1714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Parameter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1" name="Google Shape;1471;p21"/>
            <p:cNvSpPr txBox="1"/>
            <p:nvPr/>
          </p:nvSpPr>
          <p:spPr>
            <a:xfrm>
              <a:off x="2762250" y="171450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211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Value / Description</a:t>
              </a:r>
              <a:endParaRPr b="1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2" name="Google Shape;1472;p21"/>
            <p:cNvSpPr txBox="1"/>
            <p:nvPr/>
          </p:nvSpPr>
          <p:spPr>
            <a:xfrm>
              <a:off x="857250" y="2143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Base Model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3" name="Google Shape;1473;p21"/>
            <p:cNvSpPr txBox="1"/>
            <p:nvPr/>
          </p:nvSpPr>
          <p:spPr>
            <a:xfrm>
              <a:off x="2762250" y="214312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Mistral-7B-v0.1, strictly frozen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4" name="Google Shape;1474;p21"/>
            <p:cNvSpPr txBox="1"/>
            <p:nvPr/>
          </p:nvSpPr>
          <p:spPr>
            <a:xfrm>
              <a:off x="857250" y="2571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Proposition space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5" name="Google Shape;1475;p21"/>
            <p:cNvSpPr txBox="1"/>
            <p:nvPr/>
          </p:nvSpPr>
          <p:spPr>
            <a:xfrm>
              <a:off x="2762250" y="257175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80D (z = φ(x, y))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6" name="Google Shape;1476;p21"/>
            <p:cNvSpPr txBox="1"/>
            <p:nvPr/>
          </p:nvSpPr>
          <p:spPr>
            <a:xfrm>
              <a:off x="857250" y="3000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Kernel bandwidth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7" name="Google Shape;1477;p21"/>
            <p:cNvSpPr txBox="1"/>
            <p:nvPr/>
          </p:nvSpPr>
          <p:spPr>
            <a:xfrm>
              <a:off x="2762250" y="300037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σ* = 7.2621 (calibration); κ = σ* / √d_eff (chess/CIFAR band)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8" name="Google Shape;1478;p21"/>
            <p:cNvSpPr txBox="1"/>
            <p:nvPr/>
          </p:nvSpPr>
          <p:spPr>
            <a:xfrm>
              <a:off x="857250" y="3429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Adapter params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79" name="Google Shape;1479;p21"/>
            <p:cNvSpPr txBox="1"/>
            <p:nvPr/>
          </p:nvSpPr>
          <p:spPr>
            <a:xfrm>
              <a:off x="2762250" y="3429000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v_max = 5.0, η = 0.5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0" name="Google Shape;1480;p21"/>
            <p:cNvSpPr txBox="1"/>
            <p:nvPr/>
          </p:nvSpPr>
          <p:spPr>
            <a:xfrm>
              <a:off x="857250" y="3857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Capacity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1" name="Google Shape;1481;p21"/>
            <p:cNvSpPr txBox="1"/>
            <p:nvPr/>
          </p:nvSpPr>
          <p:spPr>
            <a:xfrm>
              <a:off x="2762250" y="3857625"/>
              <a:ext cx="552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20k centers (canonical); up to 50k for scale diagnostics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2" name="Google Shape;1482;p21"/>
            <p:cNvSpPr txBox="1"/>
            <p:nvPr/>
          </p:nvSpPr>
          <p:spPr>
            <a:xfrm>
              <a:off x="857250" y="4286250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Training &amp; GPU</a:t>
              </a:r>
              <a:endParaRPr b="1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  <p:sp>
          <p:nvSpPr>
            <p:cNvPr id="1483" name="Google Shape;1483;p21"/>
            <p:cNvSpPr txBox="1"/>
            <p:nvPr/>
          </p:nvSpPr>
          <p:spPr>
            <a:xfrm>
              <a:off x="2762250" y="4286250"/>
              <a:ext cx="552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53635"/>
                  </a:solidFill>
                  <a:latin typeface="Source Serif 4"/>
                  <a:ea typeface="Source Serif 4"/>
                  <a:cs typeface="Source Serif 4"/>
                  <a:sym typeface="Source Serif 4"/>
                </a:rPr>
                <a:t>Epochs: A=300, B/C/D=200; seed 42; single A100/H100</a:t>
              </a:r>
              <a:endParaRPr b="0" sz="11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22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TECHNICAL IMPLEMENTATION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0" name="Google Shape;1490;p22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59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Implementation: FAISS-accelerated readout</a:t>
            </a:r>
            <a:endParaRPr b="0" sz="259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91" name="Google Shape;1491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92" name="Google Shape;1492;p22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2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2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5" name="Google Shape;1495;p22"/>
          <p:cNvSpPr txBox="1"/>
          <p:nvPr>
            <p:ph idx="1" type="body"/>
          </p:nvPr>
        </p:nvSpPr>
        <p:spPr>
          <a:xfrm>
            <a:off x="762000" y="1714500"/>
            <a:ext cx="66675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Canonical training (Cell 7):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index retrieves only centers within activation reach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Diagnostic and benchmark cells: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exact vectorized readout, to keep index state out of the audit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Performance: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Both compute the same kernel readout up to numerical tolerance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1500"/>
              </a:spcAft>
              <a:buClr>
                <a:srgbClr val="353635"/>
              </a:buClr>
              <a:buSzPts val="1400"/>
              <a:buFont typeface="Source Serif 4"/>
              <a:buChar char="●"/>
            </a:pPr>
            <a:r>
              <a:rPr b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Substrate: </a:t>
            </a:r>
            <a:r>
              <a:rPr b="0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is a GPU-substrate workaround — on event-driven hardware, locality is intrinsic</a:t>
            </a:r>
            <a:endParaRPr b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3"/>
          <p:cNvSpPr txBox="1"/>
          <p:nvPr/>
        </p:nvSpPr>
        <p:spPr>
          <a:xfrm>
            <a:off x="3076575" y="619125"/>
            <a:ext cx="299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TECHNICAL IMPLEMENTATION</a:t>
            </a:r>
            <a:endParaRPr b="1" sz="11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2" name="Google Shape;1502;p23"/>
          <p:cNvSpPr txBox="1"/>
          <p:nvPr>
            <p:ph type="title"/>
          </p:nvPr>
        </p:nvSpPr>
        <p:spPr>
          <a:xfrm>
            <a:off x="457200" y="857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Metrics and scoring conventions</a:t>
            </a:r>
            <a:endParaRPr b="0" sz="26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503" name="Google Shape;1503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04" name="Google Shape;1504;p23"/>
            <p:cNvSpPr/>
            <p:nvPr/>
          </p:nvSpPr>
          <p:spPr>
            <a:xfrm>
              <a:off x="0" y="4953000"/>
              <a:ext cx="9144000" cy="190500"/>
            </a:xfrm>
            <a:prstGeom prst="rect">
              <a:avLst/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7620000" y="0"/>
              <a:ext cx="1524000" cy="5143500"/>
            </a:xfrm>
            <a:prstGeom prst="rect">
              <a:avLst/>
            </a:prstGeom>
            <a:solidFill>
              <a:srgbClr val="F4F4F4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8001000" y="4000500"/>
              <a:ext cx="1143000" cy="1143000"/>
            </a:xfrm>
            <a:prstGeom prst="ellipse">
              <a:avLst/>
            </a:prstGeom>
            <a:solidFill>
              <a:srgbClr val="D211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7" name="Google Shape;1507;p23"/>
          <p:cNvSpPr txBox="1"/>
          <p:nvPr>
            <p:ph idx="1" type="body"/>
          </p:nvPr>
        </p:nvSpPr>
        <p:spPr>
          <a:xfrm>
            <a:off x="762000" y="1571625"/>
            <a:ext cx="6667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Metrics: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Accuracy: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argmax matches operational truth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Install rate: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accuracy on phase’s own test set immediately after that phase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Retention: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earlier-phase accuracy after later phases train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Selective deletion: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Δ on deleted vs. control propositions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Revision success: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argmax flip from prior to revised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Scoring conventions: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Linear readout: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S_eff = R_base + δR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Log readout: 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S_eff = log(R_base + ε) + δR (near-saturated base prior)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Choice is fixed per diagnostic and stated when reported</a:t>
            </a:r>
            <a:endParaRPr b="1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3" name="Google Shape;1513;g3e33ad06252_2_11956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514" name="Google Shape;1514;g3e33ad06252_2_11956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5" name="Google Shape;1515;g3e33ad06252_2_11956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6" name="Google Shape;1516;g3e33ad06252_2_11956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7" name="Google Shape;1517;g3e33ad06252_2_11956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8" name="Google Shape;1518;g3e33ad06252_2_11956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19" name="Google Shape;1519;g3e33ad06252_2_11956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0" name="Google Shape;1520;g3e33ad06252_2_11956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1" name="Google Shape;1521;g3e33ad06252_2_11956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2" name="Google Shape;1522;g3e33ad06252_2_11956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3" name="Google Shape;1523;g3e33ad06252_2_11956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4" name="Google Shape;1524;g3e33ad06252_2_11956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5" name="Google Shape;1525;g3e33ad06252_2_11956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6" name="Google Shape;1526;g3e33ad06252_2_11956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7" name="Google Shape;1527;g3e33ad06252_2_11956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8" name="Google Shape;1528;g3e33ad06252_2_11956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29" name="Google Shape;1529;g3e33ad06252_2_11956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0" name="Google Shape;1530;g3e33ad06252_2_11956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1" name="Google Shape;1531;g3e33ad06252_2_11956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2" name="Google Shape;1532;g3e33ad06252_2_11956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3" name="Google Shape;1533;g3e33ad06252_2_11956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34" name="Google Shape;1534;g3e33ad06252_2_11956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535" name="Google Shape;1535;g3e33ad06252_2_11956"/>
          <p:cNvSpPr txBox="1"/>
          <p:nvPr/>
        </p:nvSpPr>
        <p:spPr>
          <a:xfrm>
            <a:off x="3041491" y="8670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36" name="Google Shape;1536;g3e33ad06252_2_11956"/>
          <p:cNvGrpSpPr/>
          <p:nvPr/>
        </p:nvGrpSpPr>
        <p:grpSpPr>
          <a:xfrm>
            <a:off x="587075" y="2155375"/>
            <a:ext cx="8129125" cy="808806"/>
            <a:chOff x="587075" y="2155375"/>
            <a:chExt cx="8129125" cy="808806"/>
          </a:xfrm>
        </p:grpSpPr>
        <p:sp>
          <p:nvSpPr>
            <p:cNvPr id="1537" name="Google Shape;1537;g3e33ad06252_2_11956"/>
            <p:cNvSpPr/>
            <p:nvPr/>
          </p:nvSpPr>
          <p:spPr>
            <a:xfrm>
              <a:off x="587075" y="2155375"/>
              <a:ext cx="1213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property: </a:t>
              </a: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local durable alignment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8" name="Google Shape;1538;g3e33ad06252_2_11956"/>
            <p:cNvSpPr/>
            <p:nvPr/>
          </p:nvSpPr>
          <p:spPr>
            <a:xfrm>
              <a:off x="1978341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gap </a:t>
              </a:r>
              <a:b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 existing architectures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9" name="Google Shape;1539;g3e33ad06252_2_11956"/>
            <p:cNvSpPr/>
            <p:nvPr/>
          </p:nvSpPr>
          <p:spPr>
            <a:xfrm>
              <a:off x="3213858" y="2155381"/>
              <a:ext cx="13734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architecture: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correction field over a frozen base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0" name="Google Shape;1540;g3e33ad06252_2_11956"/>
            <p:cNvSpPr/>
            <p:nvPr/>
          </p:nvSpPr>
          <p:spPr>
            <a:xfrm>
              <a:off x="4764570" y="2155381"/>
              <a:ext cx="1283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F4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 environment: </a:t>
              </a:r>
              <a:r>
                <a:rPr lang="en-US" sz="10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Industries</a:t>
              </a:r>
              <a:endParaRPr i="1" sz="1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1" name="Google Shape;1541;g3e33ad06252_2_11956"/>
            <p:cNvSpPr/>
            <p:nvPr/>
          </p:nvSpPr>
          <p:spPr>
            <a:xfrm>
              <a:off x="6224875" y="2155381"/>
              <a:ext cx="10581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results.  </a:t>
              </a:r>
              <a:br>
                <a:rPr b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1" lang="en-US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Does the system work? </a:t>
              </a:r>
              <a:endParaRPr i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2" name="Google Shape;1542;g3e33ad06252_2_11956"/>
            <p:cNvSpPr/>
            <p:nvPr/>
          </p:nvSpPr>
          <p:spPr>
            <a:xfrm>
              <a:off x="7460400" y="2155375"/>
              <a:ext cx="1255800" cy="808800"/>
            </a:xfrm>
            <a:prstGeom prst="roundRect">
              <a:avLst>
                <a:gd fmla="val 0" name="adj"/>
              </a:avLst>
            </a:prstGeom>
            <a:noFill/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 benchmarks </a:t>
              </a:r>
              <a:r>
                <a:rPr lang="en-US" sz="10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some limits.</a:t>
              </a:r>
              <a:endParaRPr i="1" sz="10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43" name="Google Shape;1543;g3e33ad06252_2_11956"/>
          <p:cNvSpPr txBox="1"/>
          <p:nvPr/>
        </p:nvSpPr>
        <p:spPr>
          <a:xfrm>
            <a:off x="5881575" y="3336250"/>
            <a:ext cx="34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21117"/>
                </a:solidFill>
                <a:latin typeface="Caveat"/>
                <a:ea typeface="Caveat"/>
                <a:cs typeface="Caveat"/>
                <a:sym typeface="Caveat"/>
              </a:rPr>
              <a:t>Enforcement</a:t>
            </a:r>
            <a:endParaRPr sz="2400">
              <a:solidFill>
                <a:srgbClr val="D2111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544" name="Google Shape;1544;g3e33ad06252_2_11956"/>
          <p:cNvSpPr/>
          <p:nvPr/>
        </p:nvSpPr>
        <p:spPr>
          <a:xfrm>
            <a:off x="6516647" y="3053913"/>
            <a:ext cx="310800" cy="268800"/>
          </a:xfrm>
          <a:prstGeom prst="triangle">
            <a:avLst>
              <a:gd fmla="val 50000" name="adj"/>
            </a:avLst>
          </a:prstGeom>
          <a:solidFill>
            <a:srgbClr val="FBFBFB"/>
          </a:solidFill>
          <a:ln cap="flat" cmpd="sng" w="9525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g3e33ad06252_2_11956"/>
          <p:cNvSpPr/>
          <p:nvPr/>
        </p:nvSpPr>
        <p:spPr>
          <a:xfrm rot="5400000">
            <a:off x="3073812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g3e33ad06252_2_11956"/>
          <p:cNvSpPr/>
          <p:nvPr/>
        </p:nvSpPr>
        <p:spPr>
          <a:xfrm rot="5400000">
            <a:off x="4621774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g3e33ad06252_2_11956"/>
          <p:cNvSpPr/>
          <p:nvPr/>
        </p:nvSpPr>
        <p:spPr>
          <a:xfrm rot="5400000">
            <a:off x="6087546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e33ad06252_2_11956"/>
          <p:cNvSpPr/>
          <p:nvPr/>
        </p:nvSpPr>
        <p:spPr>
          <a:xfrm rot="5400000">
            <a:off x="7317049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g3e33ad06252_2_11956"/>
          <p:cNvSpPr txBox="1"/>
          <p:nvPr/>
        </p:nvSpPr>
        <p:spPr>
          <a:xfrm>
            <a:off x="5912288" y="3700507"/>
            <a:ext cx="479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How do we make 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answers to hold?</a:t>
            </a:r>
            <a:br>
              <a:rPr i="1" lang="en-US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1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0" name="Google Shape;1550;g3e33ad06252_2_11956"/>
          <p:cNvSpPr/>
          <p:nvPr/>
        </p:nvSpPr>
        <p:spPr>
          <a:xfrm rot="5400000">
            <a:off x="1848651" y="2510567"/>
            <a:ext cx="113700" cy="98400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" name="Google Shape;1556;g3e33ad06252_2_11998"/>
          <p:cNvGrpSpPr/>
          <p:nvPr/>
        </p:nvGrpSpPr>
        <p:grpSpPr>
          <a:xfrm>
            <a:off x="4405052" y="225025"/>
            <a:ext cx="333897" cy="338824"/>
            <a:chOff x="4405049" y="356825"/>
            <a:chExt cx="333897" cy="338824"/>
          </a:xfrm>
        </p:grpSpPr>
        <p:sp>
          <p:nvSpPr>
            <p:cNvPr id="1557" name="Google Shape;1557;g3e33ad06252_2_11998"/>
            <p:cNvSpPr/>
            <p:nvPr/>
          </p:nvSpPr>
          <p:spPr>
            <a:xfrm rot="8100000">
              <a:off x="4441343" y="49179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58" name="Google Shape;1558;g3e33ad06252_2_11998"/>
            <p:cNvSpPr/>
            <p:nvPr/>
          </p:nvSpPr>
          <p:spPr>
            <a:xfrm flipH="1" rot="2700000">
              <a:off x="4441343" y="54686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59" name="Google Shape;1559;g3e33ad06252_2_11998"/>
            <p:cNvSpPr/>
            <p:nvPr/>
          </p:nvSpPr>
          <p:spPr>
            <a:xfrm flipH="1" rot="-8100000">
              <a:off x="4642258" y="48983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0" name="Google Shape;1560;g3e33ad06252_2_11998"/>
            <p:cNvSpPr/>
            <p:nvPr/>
          </p:nvSpPr>
          <p:spPr>
            <a:xfrm rot="-2700000">
              <a:off x="4642257" y="54491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1" name="Google Shape;1561;g3e33ad06252_2_11998"/>
            <p:cNvSpPr/>
            <p:nvPr/>
          </p:nvSpPr>
          <p:spPr>
            <a:xfrm rot="2700000">
              <a:off x="4511979" y="61816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2" name="Google Shape;1562;g3e33ad06252_2_11998"/>
            <p:cNvSpPr/>
            <p:nvPr/>
          </p:nvSpPr>
          <p:spPr>
            <a:xfrm flipH="1" rot="-2700000">
              <a:off x="4567051" y="61816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3" name="Google Shape;1563;g3e33ad06252_2_11998"/>
            <p:cNvSpPr/>
            <p:nvPr/>
          </p:nvSpPr>
          <p:spPr>
            <a:xfrm rot="-8100000">
              <a:off x="4569786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4" name="Google Shape;1564;g3e33ad06252_2_11998"/>
            <p:cNvSpPr/>
            <p:nvPr/>
          </p:nvSpPr>
          <p:spPr>
            <a:xfrm flipH="1" rot="8100000">
              <a:off x="4514713" y="41828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5" name="Google Shape;1565;g3e33ad06252_2_11998"/>
            <p:cNvSpPr/>
            <p:nvPr/>
          </p:nvSpPr>
          <p:spPr>
            <a:xfrm rot="-2700000">
              <a:off x="4592401" y="41854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6" name="Google Shape;1566;g3e33ad06252_2_11998"/>
            <p:cNvSpPr/>
            <p:nvPr/>
          </p:nvSpPr>
          <p:spPr>
            <a:xfrm rot="-2700000">
              <a:off x="4389796" y="62058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7" name="Google Shape;1567;g3e33ad06252_2_11998"/>
            <p:cNvSpPr/>
            <p:nvPr/>
          </p:nvSpPr>
          <p:spPr>
            <a:xfrm flipH="1" rot="2700000">
              <a:off x="4392143" y="41704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8" name="Google Shape;1568;g3e33ad06252_2_11998"/>
            <p:cNvSpPr/>
            <p:nvPr/>
          </p:nvSpPr>
          <p:spPr>
            <a:xfrm flipH="1" rot="2700000">
              <a:off x="4594748" y="6190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69" name="Google Shape;1569;g3e33ad06252_2_11998"/>
            <p:cNvSpPr/>
            <p:nvPr/>
          </p:nvSpPr>
          <p:spPr>
            <a:xfrm>
              <a:off x="4405049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0" name="Google Shape;1570;g3e33ad06252_2_11998"/>
            <p:cNvSpPr/>
            <p:nvPr/>
          </p:nvSpPr>
          <p:spPr>
            <a:xfrm>
              <a:off x="4531498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1" name="Google Shape;1571;g3e33ad06252_2_11998"/>
            <p:cNvSpPr/>
            <p:nvPr/>
          </p:nvSpPr>
          <p:spPr>
            <a:xfrm>
              <a:off x="4657946" y="3568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2" name="Google Shape;1572;g3e33ad06252_2_11998"/>
            <p:cNvSpPr/>
            <p:nvPr/>
          </p:nvSpPr>
          <p:spPr>
            <a:xfrm>
              <a:off x="4405049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3" name="Google Shape;1573;g3e33ad06252_2_11998"/>
            <p:cNvSpPr/>
            <p:nvPr/>
          </p:nvSpPr>
          <p:spPr>
            <a:xfrm>
              <a:off x="4531498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4" name="Google Shape;1574;g3e33ad06252_2_11998"/>
            <p:cNvSpPr/>
            <p:nvPr/>
          </p:nvSpPr>
          <p:spPr>
            <a:xfrm>
              <a:off x="4657946" y="4858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5" name="Google Shape;1575;g3e33ad06252_2_11998"/>
            <p:cNvSpPr/>
            <p:nvPr/>
          </p:nvSpPr>
          <p:spPr>
            <a:xfrm>
              <a:off x="4405049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6" name="Google Shape;1576;g3e33ad06252_2_11998"/>
            <p:cNvSpPr/>
            <p:nvPr/>
          </p:nvSpPr>
          <p:spPr>
            <a:xfrm>
              <a:off x="4531498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  <p:sp>
          <p:nvSpPr>
            <p:cNvPr id="1577" name="Google Shape;1577;g3e33ad06252_2_11998"/>
            <p:cNvSpPr/>
            <p:nvPr/>
          </p:nvSpPr>
          <p:spPr>
            <a:xfrm>
              <a:off x="4657946" y="6149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350" lIns="10350" spcFirstLastPara="1" rIns="10350" wrap="square" tIns="103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8"/>
            </a:p>
          </p:txBody>
        </p:sp>
      </p:grpSp>
      <p:sp>
        <p:nvSpPr>
          <p:cNvPr id="1578" name="Google Shape;1578;g3e33ad06252_2_11998"/>
          <p:cNvSpPr txBox="1"/>
          <p:nvPr/>
        </p:nvSpPr>
        <p:spPr>
          <a:xfrm>
            <a:off x="1109925" y="2017650"/>
            <a:ext cx="526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results: </a:t>
            </a:r>
            <a:b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the system work?</a:t>
            </a:r>
            <a:endParaRPr i="1" sz="3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0" name="Google Shape;2100;p39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01" name="Google Shape;2101;p39"/>
            <p:cNvSpPr/>
            <p:nvPr/>
          </p:nvSpPr>
          <p:spPr>
            <a:xfrm rot="8100000">
              <a:off x="4532789" y="35999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9"/>
            <p:cNvSpPr/>
            <p:nvPr/>
          </p:nvSpPr>
          <p:spPr>
            <a:xfrm rot="2700000">
              <a:off x="4532797" y="41502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9"/>
            <p:cNvSpPr/>
            <p:nvPr/>
          </p:nvSpPr>
          <p:spPr>
            <a:xfrm rot="-8100000">
              <a:off x="4733709" y="35804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9"/>
            <p:cNvSpPr/>
            <p:nvPr/>
          </p:nvSpPr>
          <p:spPr>
            <a:xfrm rot="-2700000">
              <a:off x="4733707" y="41315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9"/>
            <p:cNvSpPr/>
            <p:nvPr/>
          </p:nvSpPr>
          <p:spPr>
            <a:xfrm rot="2700000">
              <a:off x="4603431" y="486399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9"/>
            <p:cNvSpPr/>
            <p:nvPr/>
          </p:nvSpPr>
          <p:spPr>
            <a:xfrm rot="-2700000">
              <a:off x="4658505" y="486336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9"/>
            <p:cNvSpPr/>
            <p:nvPr/>
          </p:nvSpPr>
          <p:spPr>
            <a:xfrm rot="-8100000">
              <a:off x="4661233" y="28648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9"/>
            <p:cNvSpPr/>
            <p:nvPr/>
          </p:nvSpPr>
          <p:spPr>
            <a:xfrm rot="8100000">
              <a:off x="4606160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9"/>
            <p:cNvSpPr/>
            <p:nvPr/>
          </p:nvSpPr>
          <p:spPr>
            <a:xfrm rot="-2700000">
              <a:off x="4683854" y="286790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9"/>
            <p:cNvSpPr/>
            <p:nvPr/>
          </p:nvSpPr>
          <p:spPr>
            <a:xfrm rot="-2700000">
              <a:off x="4481254" y="48878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9"/>
            <p:cNvSpPr/>
            <p:nvPr/>
          </p:nvSpPr>
          <p:spPr>
            <a:xfrm rot="2700000">
              <a:off x="4483597" y="285272"/>
              <a:ext cx="158675" cy="17819"/>
            </a:xfrm>
            <a:prstGeom prst="roundRect">
              <a:avLst>
                <a:gd fmla="val 49995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9"/>
            <p:cNvSpPr/>
            <p:nvPr/>
          </p:nvSpPr>
          <p:spPr>
            <a:xfrm rot="2700000">
              <a:off x="4686204" y="487310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9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9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9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9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9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9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9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9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9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2" name="Google Shape;2122;p39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LIMITS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Limits</a:t>
            </a:r>
            <a:endParaRPr b="0" i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123" name="Google Shape;2123;p39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7975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does not produce semantic consequences by itself — supplied as ordinary correction edges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 state does not transfer across base models — only the mechanism replicates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 head-to-head comparison vs. external editors (ROME, MEMIT, SERAC, GRACE, WISE) — Cell 27 capability manifest only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Paraphrase generalization bounded by representation geometry, not architecture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120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Tested at proposition-space scale (d ≈ 80), not frontier latent geometry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9" name="Google Shape;2129;p40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30" name="Google Shape;2130;p40"/>
            <p:cNvSpPr/>
            <p:nvPr/>
          </p:nvSpPr>
          <p:spPr>
            <a:xfrm rot="8100000">
              <a:off x="4532795" y="3599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40"/>
            <p:cNvSpPr/>
            <p:nvPr/>
          </p:nvSpPr>
          <p:spPr>
            <a:xfrm rot="2700000">
              <a:off x="4532797" y="41501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40"/>
            <p:cNvSpPr/>
            <p:nvPr/>
          </p:nvSpPr>
          <p:spPr>
            <a:xfrm rot="-8100000">
              <a:off x="4733715" y="3580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40"/>
            <p:cNvSpPr/>
            <p:nvPr/>
          </p:nvSpPr>
          <p:spPr>
            <a:xfrm rot="-2700000">
              <a:off x="4733707" y="41315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0"/>
            <p:cNvSpPr/>
            <p:nvPr/>
          </p:nvSpPr>
          <p:spPr>
            <a:xfrm rot="2700000">
              <a:off x="4603431" y="48640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40"/>
            <p:cNvSpPr/>
            <p:nvPr/>
          </p:nvSpPr>
          <p:spPr>
            <a:xfrm rot="-2700000">
              <a:off x="4658505" y="48633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40"/>
            <p:cNvSpPr/>
            <p:nvPr/>
          </p:nvSpPr>
          <p:spPr>
            <a:xfrm rot="-8100000">
              <a:off x="4661240" y="2864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40"/>
            <p:cNvSpPr/>
            <p:nvPr/>
          </p:nvSpPr>
          <p:spPr>
            <a:xfrm rot="8100000">
              <a:off x="4606166" y="28648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40"/>
            <p:cNvSpPr/>
            <p:nvPr/>
          </p:nvSpPr>
          <p:spPr>
            <a:xfrm rot="-2700000">
              <a:off x="4683854" y="286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40"/>
            <p:cNvSpPr/>
            <p:nvPr/>
          </p:nvSpPr>
          <p:spPr>
            <a:xfrm rot="-2700000">
              <a:off x="4481254" y="48877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40"/>
            <p:cNvSpPr/>
            <p:nvPr/>
          </p:nvSpPr>
          <p:spPr>
            <a:xfrm rot="2700000">
              <a:off x="4483598" y="285274"/>
              <a:ext cx="158675" cy="17819"/>
            </a:xfrm>
            <a:prstGeom prst="roundRect">
              <a:avLst>
                <a:gd fmla="val 49994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40"/>
            <p:cNvSpPr/>
            <p:nvPr/>
          </p:nvSpPr>
          <p:spPr>
            <a:xfrm rot="2700000">
              <a:off x="4686203" y="487313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40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40"/>
            <p:cNvSpPr/>
            <p:nvPr/>
          </p:nvSpPr>
          <p:spPr>
            <a:xfrm>
              <a:off x="462295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40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40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40"/>
            <p:cNvSpPr/>
            <p:nvPr/>
          </p:nvSpPr>
          <p:spPr>
            <a:xfrm>
              <a:off x="462295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40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40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40"/>
            <p:cNvSpPr/>
            <p:nvPr/>
          </p:nvSpPr>
          <p:spPr>
            <a:xfrm>
              <a:off x="4622950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40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1" name="Google Shape;2151;p40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IMPLICATIONS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Implications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2" name="Google Shape;2152;p40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79375" lvl="0" marL="190500" marR="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 revisable layer that </a:t>
            </a: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scales with context, not base model size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Inspectable, auditable, removable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constraints — properties weights don’t provide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Mechanism is base-agnostic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replicates across Mistral and Qwen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Same engine across chess, vision, language</a:t>
            </a: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— points at something general about the substrate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79375" lvl="0" marL="190500" marR="0" rtl="0" algn="l">
              <a:spcBef>
                <a:spcPts val="9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FAISS is a substrate-mismatch tax — on event-driven hardware, the implementation gets </a:t>
            </a:r>
            <a:r>
              <a:rPr b="0" i="1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shorter</a:t>
            </a:r>
            <a:endParaRPr b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8" name="Google Shape;2158;p41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59" name="Google Shape;2159;p41"/>
            <p:cNvSpPr/>
            <p:nvPr/>
          </p:nvSpPr>
          <p:spPr>
            <a:xfrm rot="8100000">
              <a:off x="4532795" y="3599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41"/>
            <p:cNvSpPr/>
            <p:nvPr/>
          </p:nvSpPr>
          <p:spPr>
            <a:xfrm rot="2700000">
              <a:off x="4532797" y="41501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41"/>
            <p:cNvSpPr/>
            <p:nvPr/>
          </p:nvSpPr>
          <p:spPr>
            <a:xfrm rot="-8100000">
              <a:off x="4733715" y="358045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41"/>
            <p:cNvSpPr/>
            <p:nvPr/>
          </p:nvSpPr>
          <p:spPr>
            <a:xfrm rot="-2700000">
              <a:off x="4733707" y="413157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41"/>
            <p:cNvSpPr/>
            <p:nvPr/>
          </p:nvSpPr>
          <p:spPr>
            <a:xfrm rot="2700000">
              <a:off x="4603431" y="48640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41"/>
            <p:cNvSpPr/>
            <p:nvPr/>
          </p:nvSpPr>
          <p:spPr>
            <a:xfrm rot="-2700000">
              <a:off x="4658505" y="486333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41"/>
            <p:cNvSpPr/>
            <p:nvPr/>
          </p:nvSpPr>
          <p:spPr>
            <a:xfrm rot="-8100000">
              <a:off x="4661240" y="2864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41"/>
            <p:cNvSpPr/>
            <p:nvPr/>
          </p:nvSpPr>
          <p:spPr>
            <a:xfrm rot="8100000">
              <a:off x="4606166" y="28648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1"/>
            <p:cNvSpPr/>
            <p:nvPr/>
          </p:nvSpPr>
          <p:spPr>
            <a:xfrm rot="-2700000">
              <a:off x="4683854" y="286793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1"/>
            <p:cNvSpPr/>
            <p:nvPr/>
          </p:nvSpPr>
          <p:spPr>
            <a:xfrm rot="-2700000">
              <a:off x="4481254" y="488779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1"/>
            <p:cNvSpPr/>
            <p:nvPr/>
          </p:nvSpPr>
          <p:spPr>
            <a:xfrm rot="2700000">
              <a:off x="4483598" y="285274"/>
              <a:ext cx="158675" cy="17819"/>
            </a:xfrm>
            <a:prstGeom prst="roundRect">
              <a:avLst>
                <a:gd fmla="val 49994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1"/>
            <p:cNvSpPr/>
            <p:nvPr/>
          </p:nvSpPr>
          <p:spPr>
            <a:xfrm rot="2700000">
              <a:off x="4686203" y="487313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1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1"/>
            <p:cNvSpPr/>
            <p:nvPr/>
          </p:nvSpPr>
          <p:spPr>
            <a:xfrm>
              <a:off x="4622950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1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1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1"/>
            <p:cNvSpPr/>
            <p:nvPr/>
          </p:nvSpPr>
          <p:spPr>
            <a:xfrm>
              <a:off x="4622950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41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41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41"/>
            <p:cNvSpPr/>
            <p:nvPr/>
          </p:nvSpPr>
          <p:spPr>
            <a:xfrm>
              <a:off x="4622950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41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0" name="Google Shape;2180;p41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Future work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1" name="Google Shape;2181;p41"/>
          <p:cNvSpPr txBox="1"/>
          <p:nvPr>
            <p:ph idx="1" type="body"/>
          </p:nvPr>
        </p:nvSpPr>
        <p:spPr>
          <a:xfrm>
            <a:off x="923925" y="1714500"/>
            <a:ext cx="72867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7975" lvl="0" marL="457200" rtl="0" algn="l">
              <a:spcBef>
                <a:spcPts val="36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Larger base models; frontier-scale latent geometry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Cross-context constraint sharing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Field-state portability across base updates (controlled handover, not transfer)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Theoretical bounds on capacity vs. constraint complexity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External-editor head-to-head comparison (L4 gap)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07975" lvl="0" marL="457200" rtl="0" algn="l">
              <a:spcBef>
                <a:spcPts val="1200"/>
              </a:spcBef>
              <a:spcAft>
                <a:spcPts val="1200"/>
              </a:spcAft>
              <a:buClr>
                <a:srgbClr val="353635"/>
              </a:buClr>
              <a:buSzPts val="1250"/>
              <a:buFont typeface="Source Serif 4"/>
              <a:buChar char="●"/>
            </a:pPr>
            <a:r>
              <a:rPr b="0" i="0" lang="en-US" sz="125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Multi-agent / mutual-field interaction</a:t>
            </a:r>
            <a:endParaRPr b="0" i="0" sz="125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7" name="Google Shape;2187;p42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188" name="Google Shape;2188;p42"/>
            <p:cNvSpPr/>
            <p:nvPr/>
          </p:nvSpPr>
          <p:spPr>
            <a:xfrm rot="8100000">
              <a:off x="4532789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42"/>
            <p:cNvSpPr/>
            <p:nvPr/>
          </p:nvSpPr>
          <p:spPr>
            <a:xfrm rot="2700000">
              <a:off x="4532797" y="41501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42"/>
            <p:cNvSpPr/>
            <p:nvPr/>
          </p:nvSpPr>
          <p:spPr>
            <a:xfrm rot="-8100000">
              <a:off x="4733709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42"/>
            <p:cNvSpPr/>
            <p:nvPr/>
          </p:nvSpPr>
          <p:spPr>
            <a:xfrm rot="-2700000">
              <a:off x="4733707" y="41316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42"/>
            <p:cNvSpPr/>
            <p:nvPr/>
          </p:nvSpPr>
          <p:spPr>
            <a:xfrm rot="2700000">
              <a:off x="4603431" y="486405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42"/>
            <p:cNvSpPr/>
            <p:nvPr/>
          </p:nvSpPr>
          <p:spPr>
            <a:xfrm rot="-2700000">
              <a:off x="4658505" y="48633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42"/>
            <p:cNvSpPr/>
            <p:nvPr/>
          </p:nvSpPr>
          <p:spPr>
            <a:xfrm rot="-8100000">
              <a:off x="4661233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42"/>
            <p:cNvSpPr/>
            <p:nvPr/>
          </p:nvSpPr>
          <p:spPr>
            <a:xfrm rot="8100000">
              <a:off x="4606160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42"/>
            <p:cNvSpPr/>
            <p:nvPr/>
          </p:nvSpPr>
          <p:spPr>
            <a:xfrm rot="-2700000">
              <a:off x="4683854" y="28679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42"/>
            <p:cNvSpPr/>
            <p:nvPr/>
          </p:nvSpPr>
          <p:spPr>
            <a:xfrm rot="-2700000">
              <a:off x="4481254" y="48877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42"/>
            <p:cNvSpPr/>
            <p:nvPr/>
          </p:nvSpPr>
          <p:spPr>
            <a:xfrm rot="2700000">
              <a:off x="4483598" y="285277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42"/>
            <p:cNvSpPr/>
            <p:nvPr/>
          </p:nvSpPr>
          <p:spPr>
            <a:xfrm rot="2700000">
              <a:off x="4686204" y="487315"/>
              <a:ext cx="158675" cy="17819"/>
            </a:xfrm>
            <a:prstGeom prst="roundRect">
              <a:avLst>
                <a:gd fmla="val 49992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42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42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42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42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42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42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42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42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42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9" name="Google Shape;2209;p42"/>
          <p:cNvSpPr txBox="1"/>
          <p:nvPr/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Summary</a:t>
            </a:r>
            <a:endParaRPr b="0" sz="2400">
              <a:solidFill>
                <a:srgbClr val="353635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10" name="Google Shape;2210;p42"/>
          <p:cNvSpPr txBox="1"/>
          <p:nvPr/>
        </p:nvSpPr>
        <p:spPr>
          <a:xfrm>
            <a:off x="923925" y="1714500"/>
            <a:ext cx="72867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Problem: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lifecycle of local truths breaks existing approaches one operation at a time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Idea: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frozen base + orthogonal correction field — R_eff = R_base + δR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Mechanism: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discrepancy-driven dynamics with crystallization, Crucible, merging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1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Result:</a:t>
            </a: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full lifecycle as one operation type; robust to base perturbation; preserves locality at scale; replicates across models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353635"/>
              </a:buClr>
              <a:buSzPts val="1300"/>
              <a:buFont typeface="Source Serif 4"/>
              <a:buChar char="●"/>
            </a:pPr>
            <a:r>
              <a:rPr b="0" lang="en-US" sz="13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Limits known and scoped</a:t>
            </a:r>
            <a:endParaRPr b="0" sz="13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6" name="Google Shape;2216;p43"/>
          <p:cNvGrpSpPr/>
          <p:nvPr/>
        </p:nvGrpSpPr>
        <p:grpSpPr>
          <a:xfrm>
            <a:off x="4496505" y="224876"/>
            <a:ext cx="333898" cy="339123"/>
            <a:chOff x="4496505" y="224876"/>
            <a:chExt cx="333898" cy="339123"/>
          </a:xfrm>
        </p:grpSpPr>
        <p:sp>
          <p:nvSpPr>
            <p:cNvPr id="2217" name="Google Shape;2217;p43"/>
            <p:cNvSpPr/>
            <p:nvPr/>
          </p:nvSpPr>
          <p:spPr>
            <a:xfrm rot="8100000">
              <a:off x="4532789" y="35998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 rot="2700000">
              <a:off x="4532797" y="41501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 rot="-8100000">
              <a:off x="4733709" y="358042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 rot="-2700000">
              <a:off x="4733707" y="41316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 rot="2700000">
              <a:off x="4603431" y="486405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 rot="-2700000">
              <a:off x="4658505" y="486330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 rot="-8100000">
              <a:off x="4661233" y="286488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 rot="8100000">
              <a:off x="4606160" y="28648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 rot="-2700000">
              <a:off x="4683854" y="286797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 rot="-2700000">
              <a:off x="4481254" y="488776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 rot="2700000">
              <a:off x="4483598" y="285277"/>
              <a:ext cx="158675" cy="17819"/>
            </a:xfrm>
            <a:prstGeom prst="roundRect">
              <a:avLst>
                <a:gd fmla="val 49993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 rot="2700000">
              <a:off x="4686204" y="487315"/>
              <a:ext cx="158675" cy="17819"/>
            </a:xfrm>
            <a:prstGeom prst="roundRect">
              <a:avLst>
                <a:gd fmla="val 49992" name="adj"/>
              </a:avLst>
            </a:prstGeom>
            <a:solidFill>
              <a:srgbClr val="3536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4496505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4622949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4749404" y="224876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4496505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4622949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4749404" y="35393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4496505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4622949" y="482998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4749404" y="482999"/>
              <a:ext cx="81000" cy="810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8" name="Google Shape;2238;p43"/>
          <p:cNvSpPr txBox="1"/>
          <p:nvPr>
            <p:ph type="title"/>
          </p:nvPr>
        </p:nvSpPr>
        <p:spPr>
          <a:xfrm>
            <a:off x="457200" y="666750"/>
            <a:ext cx="82296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D21117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353635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Questions?</a:t>
            </a:r>
            <a:endParaRPr b="1" i="0" sz="1200">
              <a:solidFill>
                <a:srgbClr val="D2111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9" name="Google Shape;2239;p43"/>
          <p:cNvSpPr txBox="1"/>
          <p:nvPr>
            <p:ph idx="1" type="body"/>
          </p:nvPr>
        </p:nvSpPr>
        <p:spPr>
          <a:xfrm>
            <a:off x="923925" y="1809750"/>
            <a:ext cx="72867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Contact: </a:t>
            </a:r>
            <a:r>
              <a:rPr b="1" lang="en-US" sz="16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radu@ibf.xyz</a:t>
            </a:r>
            <a:endParaRPr b="0" sz="16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66666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Paper, foundational paper, code repo:</a:t>
            </a:r>
            <a:endParaRPr b="0" sz="1400">
              <a:solidFill>
                <a:srgbClr val="666666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353635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[links to fill in]</a:t>
            </a:r>
            <a:endParaRPr b="0" i="1" sz="1400">
              <a:solidFill>
                <a:srgbClr val="353635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RESULTS — METHODOLOGY NOTE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Smoke run now; paper-grade run replaces values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923544" y="1783080"/>
            <a:ext cx="7287768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Numbers below are from the canonical end-to-end smoke run (~3h on A100, all 40 cells executed).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/>
            </a:r>
          </a:p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Paper-grade run (currently executing, ~70h on H100) extends: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  •  Full 300/200/200/200 epoch schedule (smoke used max=2 universal cap)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  •  24-step LoRA durability test (smoke: 2 steps)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  •  Full 1k → 50k scale sweep (smoke: 1k only)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  •  Full long-horizon 20×5 rounds (smoke: stubbed)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  •  ZsRE and CounterFact lifecycle benchmarks at full coverage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/>
            </a:r>
          </a:p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Smoke values will be replaced with paper-grade values before the talk.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1106424" y="2020824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53635"/>
                </a:solidFill>
                <a:latin typeface="Montserrat"/>
              </a:rPr>
              <a:t>§ A —</a:t>
            </a:r>
            <a:r>
              <a:rPr sz="3000" b="0" i="0">
                <a:solidFill>
                  <a:srgbClr val="353635"/>
                </a:solidFill>
                <a:latin typeface="Montserrat"/>
              </a:rPr>
              <a:t> Substrate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1106424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808080"/>
                </a:solidFill>
                <a:latin typeface="Source Serif 4"/>
              </a:rPr>
              <a:t>Does it hold across time?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Canonical lifecycle on Future Industries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8, 9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Trained the correction field through Phases A→D on Future Industries (Mistral-7B-v0.1 frozen). After each phase, scored install rate on that phase's test set and retention on Phase A's test set. Linear readout.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Install (lin)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Retain A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A — Onboarding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B — Initiative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0.98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0.95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 — Reorg.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D — Turnover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0.94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319272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Mean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0.973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  ·  base-only 0.216  ·  gain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+0.756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  · 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6,381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 centers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Field installs and retains the full lifecycle on one substrate; net A→D drift −0.029.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Forgetting decomposition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25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Measured ΔAccuracy on Phase-A test set after each subsequent phase trained; decomposed total drift into per-boundary contributions.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72877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4361688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Boundary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Drift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A → 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&lt; −0.005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Composition, no contradiction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B → C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−0.019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Structural revision (dominant)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 → 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&lt; −0.005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Partial replacement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A → D (net)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−0.029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Mild, decomposable, not catastrophic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Forgetting is mild and traceable to the one boundary where contradiction is structural.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Inspectability — provenance and consistency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10, 11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Logged, per query, which centers contributed to the field's correction, which phase nucleated them, and which were promoted vs. dissolved. Audited paraphrase consistency across phases.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21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</a:tblGrid>
              <a:tr h="30403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Audit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Observation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403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Provenance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Contributing centers traced per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403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Paraphrase consistency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Field answers identically across forms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403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Cross-phase drift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None between recorded and live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026664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Inspectability is a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property of the architecture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, not a feature checkbox.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Field state is readable, auditable, and stable under inspection.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Retraction and selective deletion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12, 13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Targeted a specific proposition and removed its nucleating centers; measured argmax accuracy on the target and on a matched set of control propositions. Tested retraction by writing the contradictory target.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97280"/>
                <a:gridCol w="141732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Selective deletion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Target acc.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 → 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Selective deletion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Control drift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+0.000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Retraction (Cell 12)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Argmax flip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Restoration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Checkpoint, no retrain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319272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Deletion is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surgical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. Controls are untouched.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Lifecycle operations execute on the field without touching the base.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Long-horizon stability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21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Continued training for 20 rounds × 5 epochs after canonical convergence, tracking whether crystallized facts hold across 100+ further epochs.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92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Run mode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Smoke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Stub (bypassed)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Paper-grade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20×5 — in progress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2734056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Tracking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install-rate drift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 and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retention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 over the horizon.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Crystallized state is expected to survive sustained post-training perturbation.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923544" y="4864608"/>
            <a:ext cx="728776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1">
                <a:solidFill>
                  <a:srgbClr val="808080"/>
                </a:solidFill>
                <a:latin typeface="Source Serif 4"/>
              </a:rPr>
              <a:t>Paper-grade values replace this slide before talk.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A — SUBSTRATE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Robustness to base drift — the LoRA test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26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Applied a LoRA update to the frozen base after the field was trained; measured how much the base's argmax shifts (perturbation strength) and how much the field's behavior drifts (durability).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923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97280"/>
                <a:gridCol w="1097280"/>
              </a:tblGrid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Variant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Base shift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Field drift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Smoke (2-step LoRA)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4.6%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+0.017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78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Paper-grade (24-step)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~37.5% [TBD]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&lt;1% [TBD]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2734056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53635"/>
                </a:solidFill>
                <a:latin typeface="Source Serif 4"/>
              </a:rPr>
              <a:t>Substrate decoupling: 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the field survives base perturbation that meaningfully changes the base.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Field state is independent of the base parameters it sits over.</a:t>
            </a:r>
          </a:p>
        </p:txBody>
      </p:sp>
      <p:sp>
        <p:nvSpPr>
          <p:cNvPr id="1672" name="TextBox 1671"/>
          <p:cNvSpPr txBox="1"/>
          <p:nvPr/>
        </p:nvSpPr>
        <p:spPr>
          <a:xfrm>
            <a:off x="923544" y="4864608"/>
            <a:ext cx="728776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1">
                <a:solidFill>
                  <a:srgbClr val="808080"/>
                </a:solidFill>
                <a:latin typeface="Source Serif 4"/>
              </a:rPr>
              <a:t>Paper-grade LoRA is the headline of the substrate-decoupling story.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53635"/>
                </a:solidFill>
                <a:latin typeface="Montserrat"/>
              </a:rPr>
              <a:t>Substrate: it holds — across time, across operations, across base perturbation.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1106424" y="2020824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53635"/>
                </a:solidFill>
                <a:latin typeface="Montserrat"/>
              </a:rPr>
              <a:t>§ B —</a:t>
            </a:r>
            <a:r>
              <a:rPr sz="3000" b="0" i="0">
                <a:solidFill>
                  <a:srgbClr val="353635"/>
                </a:solidFill>
                <a:latin typeface="Montserrat"/>
              </a:rPr>
              <a:t> Geometry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1106424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808080"/>
                </a:solidFill>
                <a:latin typeface="Source Serif 4"/>
              </a:rPr>
              <a:t>Does it act where it should?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B — GEOMETRY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Strong-prior override and category-wide revision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14, 15, 16, 17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Installed corrections that contradict a saturated base prior (Cell 14). Tested category-wide relation reversal (Cell 15), bridge with weak-prior FI (Cell 16), and held-out propositions under σ-calibrated kernels (Cell 17).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Override success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Base prior (pre)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Post-correction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Control propositions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319272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Ontology shift, bridge, local-alignment control —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all pass without collapse.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Override is local. Geometric calibration holds at category scale.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B — GEOMETRY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Locality and bleed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18, 19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Installed a correction at point A; measured interference on propositions at varying geometric distance (Cell 19). Stress-tested with 1,000 unrelated rules installed simultaneously (Cell 18).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Region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Behavior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Nearby (in σ)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Minimal interference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Far (out of σ)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Indistinguishable from no install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1k pilot — target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1k pilot — control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319272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Locality is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what makes everything else work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Corrections stay where the kernel says they stay; far field is untouched.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B — GEOMETRY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Scale frontier — 1k → 50k constraints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20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Swept simultaneous-constraint count from 1k up to 50k, dynamically expanding field capacity. Tracked install rate, retention, and locality at fixed bleed radius.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72877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368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Constraint count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1k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3k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5k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10k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20k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50k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Install (smoke)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0.995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Control (smoke)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Paper-grade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[run]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[TBD]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[TBD]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[TBD]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[TBD]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[TBD]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Substrate is supposed to scale with constraint count, not with base-model size.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864608"/>
            <a:ext cx="728776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1">
                <a:solidFill>
                  <a:srgbClr val="808080"/>
                </a:solidFill>
                <a:latin typeface="Source Serif 4"/>
              </a:rPr>
              <a:t>Paper-grade sweep is the headline of the scale story.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B — GEOMETRY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When facts have consequences — emergent vs. compiled closure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22, 23, 24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Trained on direct relations only, tested two-hop consequences (Cell 23). Then trained two-hop directly (Cell 23C). Then used an external compiler to install each edge of the closure as ordinary correction edges (Cell 24).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63733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72968"/>
                <a:gridCol w="1371600"/>
              </a:tblGrid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23B — 2-hop emergent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Train direct only, test 2-hop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23C — 2-hop trained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Train 2-hop directly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0.875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24 — compiled A→C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External compiler installs each edge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24 — revised A→D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Revise C-era closure to D-era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IBF doesn't reason — compile semantic structure externally, install as correction edges.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53635"/>
                </a:solidFill>
                <a:latin typeface="Montserrat"/>
              </a:rPr>
              <a:t>Geometry: it acts locally, scales, and handles consequences through compiled structure.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1106424" y="2020824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53635"/>
                </a:solidFill>
                <a:latin typeface="Montserrat"/>
              </a:rPr>
              <a:t>§ C —</a:t>
            </a:r>
            <a:r>
              <a:rPr sz="3000" b="0" i="0">
                <a:solidFill>
                  <a:srgbClr val="353635"/>
                </a:solidFill>
                <a:latin typeface="Montserrat"/>
              </a:rPr>
              <a:t> Generality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1106424" y="329184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808080"/>
                </a:solidFill>
                <a:latin typeface="Source Serif 4"/>
              </a:rPr>
              <a:t>Does it replicate? Is it distinct from retrieval?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C — GENERALITY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Cross-model replication — Qwen2-1.5B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36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3200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Swapped Mistral-7B-v0.1 → Qwen2-1.5B. Engine, encoder, proposition space, σ-calibration, and FI construction held fixed; only R_base changed. Trained a fresh field from scratch over Qwen.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4297680" y="1719072"/>
          <a:ext cx="39319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82880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Δ vs. Mistral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5 of 6 lifecycle metrics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within ±0.01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Phase B gap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−0.265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Mechanism-level replication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Field-state transfer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4297680" y="3319272"/>
            <a:ext cx="393192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353635"/>
                </a:solidFill>
                <a:latin typeface="Source Serif 4"/>
              </a:rPr>
              <a:t>Phase B gap </a:t>
            </a:r>
            <a:r>
              <a:rPr sz="1100" b="1" i="0">
                <a:solidFill>
                  <a:srgbClr val="353635"/>
                </a:solidFill>
                <a:latin typeface="Source Serif 4"/>
              </a:rPr>
              <a:t>under investigation</a:t>
            </a:r>
            <a:r>
              <a:rPr sz="1100" b="0" i="0">
                <a:solidFill>
                  <a:srgbClr val="353635"/>
                </a:solidFill>
                <a:latin typeface="Source Serif 4"/>
              </a:rPr>
              <a:t>; paper run should tighten.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The architecture replicates across base models, not the trained instance.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C — GENERALITY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Cross-model ablations and regime-dependence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 37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Foundational-paper predictions, made before this run: in the LLM regime crystallization and Crucible should be non-redundant; agency effectively neutral. Cell 37 ablates each mechanism on the Qwen run.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72877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24328"/>
                <a:gridCol w="27432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Mechanism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Predicted role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Test result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Crystallization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Non-redundant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test in progress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Crucible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Non-redundant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test in progress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Agency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Effectively neutral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test in progress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LLM is a third predicted regime — distinct from chess (all decisive) and CIFAR (all redundant).</a:t>
            </a:r>
          </a:p>
        </p:txBody>
      </p:sp>
      <p:sp>
        <p:nvSpPr>
          <p:cNvPr id="1671" name="TextBox 1670"/>
          <p:cNvSpPr txBox="1"/>
          <p:nvPr/>
        </p:nvSpPr>
        <p:spPr>
          <a:xfrm>
            <a:off x="923544" y="4864608"/>
            <a:ext cx="7287768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1">
                <a:solidFill>
                  <a:srgbClr val="808080"/>
                </a:solidFill>
                <a:latin typeface="Source Serif 4"/>
              </a:rPr>
              <a:t>Predictions made in advance; smoke ablation pending.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C — GENERALITY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External benchmarks — ZsRE and CounterFact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28–35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Recast both datasets into a lifecycle: install → revise → remove → retain. Compared IBF correction field against kNN and RAG baselines. The baselines are oracle-maintained; IBF derives operations from the discrepancy signal alone.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72877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5768"/>
                <a:gridCol w="2286000"/>
                <a:gridCol w="22860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Architecture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Native lifecycle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CounterFact revision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IBF correction 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passes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kNN (oracle-maintained)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passes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RAG (oracle-maintained)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0.500 — fails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Architectural difference shows even when baselines are handed oracle-fresh state.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C — GENERALITY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Paraphrase audit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31, 31b, 31c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19072"/>
            <a:ext cx="7287768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Method: </a:t>
            </a:r>
            <a:r>
              <a:rPr sz="1200" b="0" i="0">
                <a:solidFill>
                  <a:srgbClr val="353635"/>
                </a:solidFill>
                <a:latin typeface="Source Serif 4"/>
              </a:rPr>
              <a:t>Investigated paraphrase misses: measured geometric distance from direct prompts (31), swept σ to recover coverage (31b), and installed explicit anchor centers via the compiled-closure pattern (31c).</a:t>
            </a:r>
          </a:p>
        </p:txBody>
      </p:sp>
      <p:graphicFrame>
        <p:nvGraphicFramePr>
          <p:cNvPr id="1669" name="Table 1668"/>
          <p:cNvGraphicFramePr>
            <a:graphicFrameLocks noGrp="1"/>
          </p:cNvGraphicFramePr>
          <p:nvPr/>
        </p:nvGraphicFramePr>
        <p:xfrm>
          <a:off x="923544" y="2331720"/>
          <a:ext cx="728776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984248"/>
                <a:gridCol w="4114800"/>
              </a:tblGrid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Sub-cell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Test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D21117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Geometry audit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Failed paraphrases sit geometrically far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31b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σ sweep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Wider σ recovers some, damages locality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229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31c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Compiled anchors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53635"/>
                          </a:solidFill>
                          <a:latin typeface="Source Serif 4"/>
                        </a:rPr>
                        <a:t>Explicit anchor installation closes the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0" name="TextBox 1669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Same pattern as closure: compile structure externally, install as correction edges.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457200" y="667512"/>
            <a:ext cx="8229600" cy="1143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Montserrat"/>
              </a:rPr>
              <a:t>§ C — GENERALITY</a:t>
            </a:r>
          </a:p>
          <a:p>
            <a:pPr algn="l">
              <a:spcBef>
                <a:spcPts val="200"/>
              </a:spcBef>
            </a:pPr>
            <a:r>
              <a:rPr sz="2400" b="0" i="0">
                <a:solidFill>
                  <a:srgbClr val="353635"/>
                </a:solidFill>
                <a:latin typeface="Montserrat Black"/>
              </a:rPr>
              <a:t>A note on the baseline comparison</a:t>
            </a:r>
          </a:p>
        </p:txBody>
      </p:sp>
      <p:sp>
        <p:nvSpPr>
          <p:cNvPr id="1667" name="TextBox 1666"/>
          <p:cNvSpPr txBox="1"/>
          <p:nvPr/>
        </p:nvSpPr>
        <p:spPr>
          <a:xfrm>
            <a:off x="6217920" y="45720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08080"/>
                </a:solidFill>
                <a:latin typeface="Montserrat"/>
              </a:rPr>
              <a:t>Cells 28–35</a:t>
            </a:r>
          </a:p>
        </p:txBody>
      </p:sp>
      <p:sp>
        <p:nvSpPr>
          <p:cNvPr id="1668" name="TextBox 1667"/>
          <p:cNvSpPr txBox="1"/>
          <p:nvPr/>
        </p:nvSpPr>
        <p:spPr>
          <a:xfrm>
            <a:off x="923544" y="1783080"/>
            <a:ext cx="728776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kNN and RAG baselines are oracle-maintained.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An external operator applies revise/remove operations to the retrieval store with full ground truth.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IBF derives the same operations from the discrepancy signal alone.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/>
            </a:r>
          </a:p>
          <a:p>
            <a:pPr algn="l"/>
            <a:r>
              <a:rPr sz="1200" b="1" i="0">
                <a:solidFill>
                  <a:srgbClr val="353635"/>
                </a:solidFill>
                <a:latin typeface="Source Serif 4"/>
              </a:rPr>
              <a:t>The asymmetry favors the baselines on state maintenance.</a:t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/>
            </a:r>
          </a:p>
          <a:p>
            <a:pPr algn="l"/>
            <a:r>
              <a:rPr sz="1200" b="0" i="0">
                <a:solidFill>
                  <a:srgbClr val="353635"/>
                </a:solidFill>
                <a:latin typeface="Source Serif 4"/>
              </a:rPr>
              <a:t>What's measured is what the architectural difference contributes despite that handicap.</a:t>
            </a:r>
          </a:p>
        </p:txBody>
      </p:sp>
      <p:sp>
        <p:nvSpPr>
          <p:cNvPr id="1669" name="TextBox 1668"/>
          <p:cNvSpPr txBox="1"/>
          <p:nvPr/>
        </p:nvSpPr>
        <p:spPr>
          <a:xfrm>
            <a:off x="923544" y="4498848"/>
            <a:ext cx="728776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21117"/>
                </a:solidFill>
                <a:latin typeface="Source Serif 4"/>
              </a:rPr>
              <a:t>► </a:t>
            </a:r>
            <a:r>
              <a:rPr sz="1200" b="0" i="1">
                <a:solidFill>
                  <a:srgbClr val="353635"/>
                </a:solidFill>
                <a:latin typeface="Source Serif 4"/>
              </a:rPr>
              <a:t>Baselines get oracle help on state; IBF earns it from the discrepancy signal.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53635"/>
                </a:solidFill>
                <a:latin typeface="Montserrat"/>
              </a:rPr>
              <a:t>Generality: replicates across base models, structurally distinct from retrieval, predicted regime confirmed.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644" name="Google Shape;1644;p25"/>
          <p:cNvGrpSpPr/>
          <p:nvPr/>
        </p:nvGrpSpPr>
        <p:grpSpPr>
          <a:xfrm>
            <a:off x="4496505" y="225025"/>
            <a:ext cx="333898" cy="338824"/>
            <a:chOff x="4496505" y="225025"/>
            <a:chExt cx="333898" cy="338824"/>
          </a:xfrm>
        </p:grpSpPr>
        <p:sp>
          <p:nvSpPr>
            <p:cNvPr id="1645" name="Google Shape;1645;p25"/>
            <p:cNvSpPr/>
            <p:nvPr/>
          </p:nvSpPr>
          <p:spPr>
            <a:xfrm rot="8100000">
              <a:off x="4532795" y="359991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 rot="2700000">
              <a:off x="4532797" y="41505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 rot="-8100000">
              <a:off x="4733715" y="358040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 rot="-2700000">
              <a:off x="4733707" y="413119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 rot="2700000">
              <a:off x="4603431" y="486373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 rot="-2700000">
              <a:off x="4658505" y="486362"/>
              <a:ext cx="58548" cy="17819"/>
            </a:xfrm>
            <a:prstGeom prst="roundRect">
              <a:avLst>
                <a:gd fmla="val 49998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 rot="-8100000">
              <a:off x="4661240" y="286486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 rot="8100000">
              <a:off x="4606166" y="286484"/>
              <a:ext cx="58548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 rot="-2700000">
              <a:off x="4683854" y="286755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 rot="-2700000">
              <a:off x="4481247" y="488791"/>
              <a:ext cx="158675" cy="17819"/>
            </a:xfrm>
            <a:prstGeom prst="roundRect">
              <a:avLst>
                <a:gd fmla="val 50000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 rot="2700000">
              <a:off x="4483598" y="285251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 rot="2700000">
              <a:off x="4686203" y="487287"/>
              <a:ext cx="158675" cy="17819"/>
            </a:xfrm>
            <a:prstGeom prst="roundRect">
              <a:avLst>
                <a:gd fmla="val 49999" name="adj"/>
              </a:avLst>
            </a:prstGeom>
            <a:solidFill>
              <a:srgbClr val="353635"/>
            </a:solidFill>
            <a:ln cap="flat" cmpd="sng" w="1075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496505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622950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749404" y="225025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4496505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4622950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4749404" y="354087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4496505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4622950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749404" y="483149"/>
              <a:ext cx="81000" cy="80700"/>
            </a:xfrm>
            <a:prstGeom prst="ellipse">
              <a:avLst/>
            </a:prstGeom>
            <a:solidFill>
              <a:srgbClr val="FFFFFF"/>
            </a:solidFill>
            <a:ln cap="flat" cmpd="sng" w="17200">
              <a:solidFill>
                <a:srgbClr val="35363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6" name="TextBox 1665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53635"/>
                </a:solidFill>
                <a:latin typeface="Montserrat"/>
              </a:rPr>
              <a:t>Substrate: it holds.   Geometry: it acts where it should.   Generality: it replicates as an architecture, not as one trained instance.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Quarterly Planning Meeting">
  <a:themeElements>
    <a:clrScheme name="Simple Light">
      <a:dk1>
        <a:srgbClr val="D21117"/>
      </a:dk1>
      <a:lt1>
        <a:srgbClr val="F6EEEB"/>
      </a:lt1>
      <a:dk2>
        <a:srgbClr val="ECECEC"/>
      </a:dk2>
      <a:lt2>
        <a:srgbClr val="353635"/>
      </a:lt2>
      <a:accent1>
        <a:srgbClr val="B9DFFF"/>
      </a:accent1>
      <a:accent2>
        <a:srgbClr val="006CE9"/>
      </a:accent2>
      <a:accent3>
        <a:srgbClr val="FBFAFA"/>
      </a:accent3>
      <a:accent4>
        <a:srgbClr val="686868"/>
      </a:accent4>
      <a:accent5>
        <a:srgbClr val="C5C5C5"/>
      </a:accent5>
      <a:accent6>
        <a:srgbClr val="FFC1C3"/>
      </a:accent6>
      <a:hlink>
        <a:srgbClr val="006C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2026-05-19T12:21:43Z</dcterms:created>
  <dc:creator>The Informational Buildup Foundation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Orthogonal Memory as a Bounded Truth-Maintenance Substrate</vt:lpwstr>
  </property>
</Properties>
</file>